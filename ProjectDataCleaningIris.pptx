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91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8799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Pembuka: “Pada mini project ini saya berperan sebagai Junior Data Analyst yang menyiapkan dataset Iris agar lebih rapi dan siap dipakai untuk analisis lanjutan.”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584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Jelaskan bahwa Iris memiliki 150 observasi dan 6 kolom awal. Empat kolom ukuran adalah fitur numerik, sedangkan Species menjadi target/kategori. Dataset sederhana, tetapi bagus untuk menunjukkan alur kerja data cleaning.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62687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Tekankan bahwa tidak semua masalah data harus menghasilkan penghapusan data. Audit menunjukkan missing value dan duplicate tidak ditemukan. Fokus cleaning adalah konsistensi nama kolom, menghapus ID yang tidak diperlukan untuk analisis, dan memantau outlier tanpa menghapusnya sembarangan.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41472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Urutkan proses seperti workflow. Mulai dari membaca data, audit, cek kategori, standardisasi nama kolom, menghapus ID, lalu validasi kembali. Sebutkan fungsi Pandas yang dipakai: info, isnull, duplicated, describe.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46880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Tunjukkan perubahan yang paling mudah dilihat: nama kolom dibuat konsisten menggunakan lowercase dan snake_case. Kolom Id dihapus. Data inti tetap 150 baris dan empat fitur pengukuran tetap dipertahankan.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3926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Jelaskan feature engineering sebagai proses membuat fitur baru dari fitur yang sudah ada. Di project ini dibuat sepal_area dan petal_area. Rumusnya adalah panjang dikali lebar. Tujuannya membantu analisis pola ukuran tanpa menghilangkan fitur asli.</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4329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final memiliki 150 baris dan 7 kolom. Kolom final: empat ukuran asli, species, sepal_area, dan petal_area. Dengan struktur ini dataset lebih konsisten dan siap diberikan ke Data Analyst Senior.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93802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Insight awal yang bisa disampaikan: fitur petal cenderung sangat informatif untuk membedakan species. Setosa terlihat paling berbeda dari dua kelas lainnya. Feature engineering area membantu membuat representasi ukuran yang lebih ringkas. Ini masih insight awal, bukan kesimpulan model machine learning.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61045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Gunakan slide ini untuk merangkum seluruh proses. Tekankan bahwa hasil akhir bukan hanya dataset yang ‘bersih’, tetapi dataset yang lebih konsisten, relevan, dan memiliki fitur tambahan untuk analisis.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74073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Penutup: “Demikian proses data cleaning dan preparation pada dataset Iris. Dataset final sudah lebih konsisten dan siap digunakan untuk analisis lanjutan. Terima kasih.”</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94511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966960" y="548640"/>
            <a:ext cx="1828800" cy="1828800"/>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52760" y="1508760"/>
            <a:ext cx="1097280" cy="1097280"/>
          </a:xfrm>
          <a:prstGeom prst="ellipse">
            <a:avLst/>
          </a:prstGeom>
          <a:solidFill>
            <a:srgbClr val="34A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18320" y="2011680"/>
            <a:ext cx="640080" cy="640080"/>
          </a:xfrm>
          <a:prstGeom prst="ellipse">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8503920" cy="1371600"/>
          </a:xfrm>
          <a:prstGeom prst="rect">
            <a:avLst/>
          </a:prstGeom>
          <a:noFill/>
        </p:spPr>
        <p:txBody>
          <a:bodyPr wrap="none">
            <a:spAutoFit/>
          </a:bodyPr>
          <a:lstStyle/>
          <a:p>
            <a:r>
              <a:rPr sz="3100" b="1">
                <a:solidFill>
                  <a:srgbClr val="1C2D4A"/>
                </a:solidFill>
              </a:rPr>
              <a:t>DATA CLEANING &amp; PREPARATION</a:t>
            </a:r>
          </a:p>
          <a:p>
            <a:r>
              <a:rPr sz="2500">
                <a:solidFill>
                  <a:srgbClr val="3D84D6"/>
                </a:solidFill>
              </a:rPr>
              <a:t>Mini Project Mingguan — Dataset Iris Species</a:t>
            </a:r>
          </a:p>
        </p:txBody>
      </p:sp>
      <p:sp>
        <p:nvSpPr>
          <p:cNvPr id="7" name="TextBox 6"/>
          <p:cNvSpPr txBox="1"/>
          <p:nvPr/>
        </p:nvSpPr>
        <p:spPr>
          <a:xfrm>
            <a:off x="822960" y="2880360"/>
            <a:ext cx="8046720" cy="1188720"/>
          </a:xfrm>
          <a:prstGeom prst="rect">
            <a:avLst/>
          </a:prstGeom>
          <a:noFill/>
        </p:spPr>
        <p:txBody>
          <a:bodyPr wrap="none">
            <a:spAutoFit/>
          </a:bodyPr>
          <a:lstStyle/>
          <a:p>
            <a:r>
              <a:rPr sz="1900">
                <a:solidFill>
                  <a:srgbClr val="5C6673"/>
                </a:solidFill>
              </a:rPr>
              <a:t>Studi kasus: menyiapkan dataset agar siap digunakan oleh Data Analyst Senior</a:t>
            </a:r>
          </a:p>
          <a:p>
            <a:r>
              <a:rPr sz="1700">
                <a:solidFill>
                  <a:srgbClr val="5C6673"/>
                </a:solidFill>
              </a:rPr>
              <a:t>Fokus: audit → cleaning → feature engineering → insight</a:t>
            </a:r>
          </a:p>
        </p:txBody>
      </p:sp>
      <p:sp>
        <p:nvSpPr>
          <p:cNvPr id="8" name="TextBox 7"/>
          <p:cNvSpPr txBox="1"/>
          <p:nvPr/>
        </p:nvSpPr>
        <p:spPr>
          <a:xfrm>
            <a:off x="822960" y="5166360"/>
            <a:ext cx="4962384" cy="353943"/>
          </a:xfrm>
          <a:prstGeom prst="rect">
            <a:avLst/>
          </a:prstGeom>
          <a:noFill/>
        </p:spPr>
        <p:txBody>
          <a:bodyPr wrap="none">
            <a:spAutoFit/>
          </a:bodyPr>
          <a:lstStyle/>
          <a:p>
            <a:r>
              <a:rPr sz="1700" b="1" dirty="0" err="1">
                <a:solidFill>
                  <a:srgbClr val="1C2D4A"/>
                </a:solidFill>
              </a:rPr>
              <a:t>Devina</a:t>
            </a:r>
            <a:r>
              <a:rPr sz="1700" b="1" dirty="0">
                <a:solidFill>
                  <a:srgbClr val="1C2D4A"/>
                </a:solidFill>
              </a:rPr>
              <a:t> </a:t>
            </a:r>
            <a:r>
              <a:rPr sz="1700" b="1" dirty="0" err="1">
                <a:solidFill>
                  <a:srgbClr val="1C2D4A"/>
                </a:solidFill>
              </a:rPr>
              <a:t>Ghea</a:t>
            </a:r>
            <a:r>
              <a:rPr sz="1700" b="1" dirty="0">
                <a:solidFill>
                  <a:srgbClr val="1C2D4A"/>
                </a:solidFill>
              </a:rPr>
              <a:t> Amanda  |  XII </a:t>
            </a:r>
            <a:r>
              <a:rPr sz="1700" b="1" dirty="0" smtClean="0">
                <a:solidFill>
                  <a:srgbClr val="1C2D4A"/>
                </a:solidFill>
              </a:rPr>
              <a:t>TJKT | SMKN 2 Surakarta</a:t>
            </a:r>
            <a:endParaRPr sz="1700" b="1" dirty="0">
              <a:solidFill>
                <a:srgbClr val="1C2D4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1. Gambaran Dataset</a:t>
            </a:r>
          </a:p>
        </p:txBody>
      </p:sp>
      <p:sp>
        <p:nvSpPr>
          <p:cNvPr id="6" name="Rounded Rectangle 5"/>
          <p:cNvSpPr/>
          <p:nvPr/>
        </p:nvSpPr>
        <p:spPr>
          <a:xfrm>
            <a:off x="640080" y="1051560"/>
            <a:ext cx="274320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051560"/>
            <a:ext cx="73152" cy="1828800"/>
          </a:xfrm>
          <a:prstGeom prst="rect">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216151"/>
            <a:ext cx="2331720" cy="384048"/>
          </a:xfrm>
          <a:prstGeom prst="rect">
            <a:avLst/>
          </a:prstGeom>
          <a:noFill/>
        </p:spPr>
        <p:txBody>
          <a:bodyPr wrap="none">
            <a:spAutoFit/>
          </a:bodyPr>
          <a:lstStyle/>
          <a:p>
            <a:r>
              <a:rPr sz="1800" b="1">
                <a:solidFill>
                  <a:srgbClr val="1C2D4A"/>
                </a:solidFill>
              </a:rPr>
              <a:t>150 baris</a:t>
            </a:r>
          </a:p>
        </p:txBody>
      </p:sp>
      <p:sp>
        <p:nvSpPr>
          <p:cNvPr id="9" name="TextBox 8"/>
          <p:cNvSpPr txBox="1"/>
          <p:nvPr/>
        </p:nvSpPr>
        <p:spPr>
          <a:xfrm>
            <a:off x="868680" y="1673352"/>
            <a:ext cx="2331720" cy="1051560"/>
          </a:xfrm>
          <a:prstGeom prst="rect">
            <a:avLst/>
          </a:prstGeom>
          <a:noFill/>
        </p:spPr>
        <p:txBody>
          <a:bodyPr wrap="square">
            <a:spAutoFit/>
          </a:bodyPr>
          <a:lstStyle/>
          <a:p>
            <a:r>
              <a:rPr sz="1400">
                <a:solidFill>
                  <a:srgbClr val="5C6673"/>
                </a:solidFill>
              </a:rPr>
              <a:t>Jumlah observasi pada dataset Iris.</a:t>
            </a:r>
          </a:p>
        </p:txBody>
      </p:sp>
      <p:sp>
        <p:nvSpPr>
          <p:cNvPr id="10" name="Rounded Rectangle 9"/>
          <p:cNvSpPr/>
          <p:nvPr/>
        </p:nvSpPr>
        <p:spPr>
          <a:xfrm>
            <a:off x="3611880" y="1051560"/>
            <a:ext cx="274320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11880" y="1051560"/>
            <a:ext cx="73152" cy="1828800"/>
          </a:xfrm>
          <a:prstGeom prst="rect">
            <a:avLst/>
          </a:prstGeom>
          <a:solidFill>
            <a:srgbClr val="34A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1216151"/>
            <a:ext cx="2331720" cy="384048"/>
          </a:xfrm>
          <a:prstGeom prst="rect">
            <a:avLst/>
          </a:prstGeom>
          <a:noFill/>
        </p:spPr>
        <p:txBody>
          <a:bodyPr wrap="none">
            <a:spAutoFit/>
          </a:bodyPr>
          <a:lstStyle/>
          <a:p>
            <a:r>
              <a:rPr sz="1800" b="1">
                <a:solidFill>
                  <a:srgbClr val="1C2D4A"/>
                </a:solidFill>
              </a:rPr>
              <a:t>6 kolom awal</a:t>
            </a:r>
          </a:p>
        </p:txBody>
      </p:sp>
      <p:sp>
        <p:nvSpPr>
          <p:cNvPr id="13" name="TextBox 12"/>
          <p:cNvSpPr txBox="1"/>
          <p:nvPr/>
        </p:nvSpPr>
        <p:spPr>
          <a:xfrm>
            <a:off x="3840480" y="1673352"/>
            <a:ext cx="2331720" cy="1051560"/>
          </a:xfrm>
          <a:prstGeom prst="rect">
            <a:avLst/>
          </a:prstGeom>
          <a:noFill/>
        </p:spPr>
        <p:txBody>
          <a:bodyPr wrap="square">
            <a:spAutoFit/>
          </a:bodyPr>
          <a:lstStyle/>
          <a:p>
            <a:r>
              <a:rPr sz="1400">
                <a:solidFill>
                  <a:srgbClr val="5C6673"/>
                </a:solidFill>
              </a:rPr>
              <a:t>Id + 4 fitur pengukuran + Species.</a:t>
            </a:r>
          </a:p>
        </p:txBody>
      </p:sp>
      <p:sp>
        <p:nvSpPr>
          <p:cNvPr id="14" name="Rounded Rectangle 13"/>
          <p:cNvSpPr/>
          <p:nvPr/>
        </p:nvSpPr>
        <p:spPr>
          <a:xfrm>
            <a:off x="6583680" y="1051560"/>
            <a:ext cx="228600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0" y="1051560"/>
            <a:ext cx="73152" cy="1828800"/>
          </a:xfrm>
          <a:prstGeom prst="rect">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12280" y="1216151"/>
            <a:ext cx="1874519" cy="384048"/>
          </a:xfrm>
          <a:prstGeom prst="rect">
            <a:avLst/>
          </a:prstGeom>
          <a:noFill/>
        </p:spPr>
        <p:txBody>
          <a:bodyPr wrap="none">
            <a:spAutoFit/>
          </a:bodyPr>
          <a:lstStyle/>
          <a:p>
            <a:r>
              <a:rPr sz="1800" b="1">
                <a:solidFill>
                  <a:srgbClr val="1C2D4A"/>
                </a:solidFill>
              </a:rPr>
              <a:t>3 kelas</a:t>
            </a:r>
          </a:p>
        </p:txBody>
      </p:sp>
      <p:sp>
        <p:nvSpPr>
          <p:cNvPr id="17" name="TextBox 16"/>
          <p:cNvSpPr txBox="1"/>
          <p:nvPr/>
        </p:nvSpPr>
        <p:spPr>
          <a:xfrm>
            <a:off x="6812280" y="1673352"/>
            <a:ext cx="1874519" cy="1051560"/>
          </a:xfrm>
          <a:prstGeom prst="rect">
            <a:avLst/>
          </a:prstGeom>
          <a:noFill/>
        </p:spPr>
        <p:txBody>
          <a:bodyPr wrap="square">
            <a:spAutoFit/>
          </a:bodyPr>
          <a:lstStyle/>
          <a:p>
            <a:r>
              <a:rPr sz="1400">
                <a:solidFill>
                  <a:srgbClr val="5C6673"/>
                </a:solidFill>
              </a:rPr>
              <a:t>Iris-setosa, Iris-versicolor, Iris-virginica.</a:t>
            </a:r>
          </a:p>
        </p:txBody>
      </p:sp>
      <p:sp>
        <p:nvSpPr>
          <p:cNvPr id="18" name="Rounded Rectangle 17"/>
          <p:cNvSpPr/>
          <p:nvPr/>
        </p:nvSpPr>
        <p:spPr>
          <a:xfrm>
            <a:off x="9098280" y="1051560"/>
            <a:ext cx="237744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1051560"/>
            <a:ext cx="73152" cy="182880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0" y="1216151"/>
            <a:ext cx="1965960" cy="384048"/>
          </a:xfrm>
          <a:prstGeom prst="rect">
            <a:avLst/>
          </a:prstGeom>
          <a:noFill/>
        </p:spPr>
        <p:txBody>
          <a:bodyPr wrap="none">
            <a:spAutoFit/>
          </a:bodyPr>
          <a:lstStyle/>
          <a:p>
            <a:r>
              <a:rPr sz="1800" b="1">
                <a:solidFill>
                  <a:srgbClr val="1C2D4A"/>
                </a:solidFill>
              </a:rPr>
              <a:t>Tujuan</a:t>
            </a:r>
          </a:p>
        </p:txBody>
      </p:sp>
      <p:sp>
        <p:nvSpPr>
          <p:cNvPr id="21" name="TextBox 20"/>
          <p:cNvSpPr txBox="1"/>
          <p:nvPr/>
        </p:nvSpPr>
        <p:spPr>
          <a:xfrm>
            <a:off x="9326880" y="1673352"/>
            <a:ext cx="1965960" cy="1051560"/>
          </a:xfrm>
          <a:prstGeom prst="rect">
            <a:avLst/>
          </a:prstGeom>
          <a:noFill/>
        </p:spPr>
        <p:txBody>
          <a:bodyPr wrap="square">
            <a:spAutoFit/>
          </a:bodyPr>
          <a:lstStyle/>
          <a:p>
            <a:r>
              <a:rPr sz="1400">
                <a:solidFill>
                  <a:srgbClr val="5C6673"/>
                </a:solidFill>
              </a:rPr>
              <a:t>Menyiapkan data yang konsisten untuk analisis.</a:t>
            </a:r>
          </a:p>
        </p:txBody>
      </p:sp>
      <p:sp>
        <p:nvSpPr>
          <p:cNvPr id="22" name="TextBox 21"/>
          <p:cNvSpPr txBox="1"/>
          <p:nvPr/>
        </p:nvSpPr>
        <p:spPr>
          <a:xfrm>
            <a:off x="822960" y="3429000"/>
            <a:ext cx="10515600" cy="2103120"/>
          </a:xfrm>
          <a:prstGeom prst="rect">
            <a:avLst/>
          </a:prstGeom>
          <a:noFill/>
        </p:spPr>
        <p:txBody>
          <a:bodyPr wrap="square">
            <a:spAutoFit/>
          </a:bodyPr>
          <a:lstStyle/>
          <a:p>
            <a:pPr>
              <a:spcAft>
                <a:spcPts val="800"/>
              </a:spcAft>
              <a:defRPr sz="1900">
                <a:solidFill>
                  <a:srgbClr val="1E2328"/>
                </a:solidFill>
              </a:defRPr>
            </a:pPr>
            <a:r>
              <a:t>Fitur numerik: Sepal Length, Sepal Width, Petal Length, Petal Width (cm).</a:t>
            </a:r>
          </a:p>
          <a:p>
            <a:pPr>
              <a:spcAft>
                <a:spcPts val="800"/>
              </a:spcAft>
              <a:defRPr sz="1900">
                <a:solidFill>
                  <a:srgbClr val="1E2328"/>
                </a:solidFill>
              </a:defRPr>
            </a:pPr>
            <a:r>
              <a:t>Target/kategori: Species.</a:t>
            </a:r>
          </a:p>
          <a:p>
            <a:pPr>
              <a:spcAft>
                <a:spcPts val="800"/>
              </a:spcAft>
              <a:defRPr sz="1900">
                <a:solidFill>
                  <a:srgbClr val="1E2328"/>
                </a:solidFill>
              </a:defRPr>
            </a:pPr>
            <a:r>
              <a:t>Dataset cocok untuk latihan klasifikasi, eksplorasi pola, dan visualisasi.</a:t>
            </a:r>
          </a:p>
        </p:txBody>
      </p:sp>
      <p:sp>
        <p:nvSpPr>
          <p:cNvPr id="23" name="Rectangle 22"/>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881360" y="6565392"/>
            <a:ext cx="640080" cy="201168"/>
          </a:xfrm>
          <a:prstGeom prst="rect">
            <a:avLst/>
          </a:prstGeom>
          <a:noFill/>
        </p:spPr>
        <p:txBody>
          <a:bodyPr wrap="none">
            <a:spAutoFit/>
          </a:bodyPr>
          <a:lstStyle/>
          <a:p>
            <a:pPr algn="r"/>
            <a:r>
              <a:rPr sz="900">
                <a:solidFill>
                  <a:srgbClr val="5C6673"/>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2. Permasalahan Data yang Ditemukan</a:t>
            </a:r>
          </a:p>
        </p:txBody>
      </p:sp>
      <p:sp>
        <p:nvSpPr>
          <p:cNvPr id="6" name="Rounded Rectangle 5"/>
          <p:cNvSpPr/>
          <p:nvPr/>
        </p:nvSpPr>
        <p:spPr>
          <a:xfrm>
            <a:off x="640080" y="1097280"/>
            <a:ext cx="3429000" cy="17830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097280"/>
            <a:ext cx="73152" cy="178308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261872"/>
            <a:ext cx="3017520" cy="384048"/>
          </a:xfrm>
          <a:prstGeom prst="rect">
            <a:avLst/>
          </a:prstGeom>
          <a:noFill/>
        </p:spPr>
        <p:txBody>
          <a:bodyPr wrap="none">
            <a:spAutoFit/>
          </a:bodyPr>
          <a:lstStyle/>
          <a:p>
            <a:r>
              <a:rPr sz="1800" b="1">
                <a:solidFill>
                  <a:srgbClr val="1C2D4A"/>
                </a:solidFill>
              </a:rPr>
              <a:t>Missing value</a:t>
            </a:r>
          </a:p>
        </p:txBody>
      </p:sp>
      <p:sp>
        <p:nvSpPr>
          <p:cNvPr id="9" name="TextBox 8"/>
          <p:cNvSpPr txBox="1"/>
          <p:nvPr/>
        </p:nvSpPr>
        <p:spPr>
          <a:xfrm>
            <a:off x="868680" y="1719072"/>
            <a:ext cx="3017520" cy="1005840"/>
          </a:xfrm>
          <a:prstGeom prst="rect">
            <a:avLst/>
          </a:prstGeom>
          <a:noFill/>
        </p:spPr>
        <p:txBody>
          <a:bodyPr wrap="square">
            <a:spAutoFit/>
          </a:bodyPr>
          <a:lstStyle/>
          <a:p>
            <a:r>
              <a:rPr sz="1400">
                <a:solidFill>
                  <a:srgbClr val="5C6673"/>
                </a:solidFill>
              </a:rPr>
              <a:t>0 ditemukan
Tidak perlu imputasi</a:t>
            </a:r>
          </a:p>
        </p:txBody>
      </p:sp>
      <p:sp>
        <p:nvSpPr>
          <p:cNvPr id="10" name="Rounded Rectangle 9"/>
          <p:cNvSpPr/>
          <p:nvPr/>
        </p:nvSpPr>
        <p:spPr>
          <a:xfrm>
            <a:off x="4434840" y="1097280"/>
            <a:ext cx="3429000" cy="17830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097280"/>
            <a:ext cx="73152" cy="178308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261872"/>
            <a:ext cx="3017520" cy="384048"/>
          </a:xfrm>
          <a:prstGeom prst="rect">
            <a:avLst/>
          </a:prstGeom>
          <a:noFill/>
        </p:spPr>
        <p:txBody>
          <a:bodyPr wrap="none">
            <a:spAutoFit/>
          </a:bodyPr>
          <a:lstStyle/>
          <a:p>
            <a:r>
              <a:rPr sz="1800" b="1">
                <a:solidFill>
                  <a:srgbClr val="1C2D4A"/>
                </a:solidFill>
              </a:rPr>
              <a:t>Duplicate</a:t>
            </a:r>
          </a:p>
        </p:txBody>
      </p:sp>
      <p:sp>
        <p:nvSpPr>
          <p:cNvPr id="13" name="TextBox 12"/>
          <p:cNvSpPr txBox="1"/>
          <p:nvPr/>
        </p:nvSpPr>
        <p:spPr>
          <a:xfrm>
            <a:off x="4663440" y="1719072"/>
            <a:ext cx="3017520" cy="1005840"/>
          </a:xfrm>
          <a:prstGeom prst="rect">
            <a:avLst/>
          </a:prstGeom>
          <a:noFill/>
        </p:spPr>
        <p:txBody>
          <a:bodyPr wrap="square">
            <a:spAutoFit/>
          </a:bodyPr>
          <a:lstStyle/>
          <a:p>
            <a:r>
              <a:rPr sz="1400">
                <a:solidFill>
                  <a:srgbClr val="5C6673"/>
                </a:solidFill>
              </a:rPr>
              <a:t>0 ditemukan
Tidak ada baris identik</a:t>
            </a:r>
          </a:p>
        </p:txBody>
      </p:sp>
      <p:sp>
        <p:nvSpPr>
          <p:cNvPr id="14" name="Rounded Rectangle 13"/>
          <p:cNvSpPr/>
          <p:nvPr/>
        </p:nvSpPr>
        <p:spPr>
          <a:xfrm>
            <a:off x="8229600" y="1097280"/>
            <a:ext cx="3429000" cy="17830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0" y="1097280"/>
            <a:ext cx="73152" cy="1783080"/>
          </a:xfrm>
          <a:prstGeom prst="rect">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58200" y="1261872"/>
            <a:ext cx="3017520" cy="384048"/>
          </a:xfrm>
          <a:prstGeom prst="rect">
            <a:avLst/>
          </a:prstGeom>
          <a:noFill/>
        </p:spPr>
        <p:txBody>
          <a:bodyPr wrap="none">
            <a:spAutoFit/>
          </a:bodyPr>
          <a:lstStyle/>
          <a:p>
            <a:r>
              <a:rPr sz="1800" b="1">
                <a:solidFill>
                  <a:srgbClr val="1C2D4A"/>
                </a:solidFill>
              </a:rPr>
              <a:t>Format kolom</a:t>
            </a:r>
          </a:p>
        </p:txBody>
      </p:sp>
      <p:sp>
        <p:nvSpPr>
          <p:cNvPr id="17" name="TextBox 16"/>
          <p:cNvSpPr txBox="1"/>
          <p:nvPr/>
        </p:nvSpPr>
        <p:spPr>
          <a:xfrm>
            <a:off x="8458200" y="1719072"/>
            <a:ext cx="3017520" cy="1005840"/>
          </a:xfrm>
          <a:prstGeom prst="rect">
            <a:avLst/>
          </a:prstGeom>
          <a:noFill/>
        </p:spPr>
        <p:txBody>
          <a:bodyPr wrap="square">
            <a:spAutoFit/>
          </a:bodyPr>
          <a:lstStyle/>
          <a:p>
            <a:r>
              <a:rPr sz="1400">
                <a:solidFill>
                  <a:srgbClr val="5C6673"/>
                </a:solidFill>
              </a:rPr>
              <a:t>Perlu dirapikan
Nama kolom belum konsisten</a:t>
            </a:r>
          </a:p>
        </p:txBody>
      </p:sp>
      <p:sp>
        <p:nvSpPr>
          <p:cNvPr id="18" name="Rounded Rectangle 17"/>
          <p:cNvSpPr/>
          <p:nvPr/>
        </p:nvSpPr>
        <p:spPr>
          <a:xfrm>
            <a:off x="640080" y="3337560"/>
            <a:ext cx="3429000" cy="17830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337560"/>
            <a:ext cx="73152" cy="1783080"/>
          </a:xfrm>
          <a:prstGeom prst="rect">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502152"/>
            <a:ext cx="3017520" cy="384048"/>
          </a:xfrm>
          <a:prstGeom prst="rect">
            <a:avLst/>
          </a:prstGeom>
          <a:noFill/>
        </p:spPr>
        <p:txBody>
          <a:bodyPr wrap="none">
            <a:spAutoFit/>
          </a:bodyPr>
          <a:lstStyle/>
          <a:p>
            <a:r>
              <a:rPr sz="1800" b="1">
                <a:solidFill>
                  <a:srgbClr val="1C2D4A"/>
                </a:solidFill>
              </a:rPr>
              <a:t>Kolom ID</a:t>
            </a:r>
          </a:p>
        </p:txBody>
      </p:sp>
      <p:sp>
        <p:nvSpPr>
          <p:cNvPr id="21" name="TextBox 20"/>
          <p:cNvSpPr txBox="1"/>
          <p:nvPr/>
        </p:nvSpPr>
        <p:spPr>
          <a:xfrm>
            <a:off x="868680" y="3959352"/>
            <a:ext cx="3017520" cy="1005840"/>
          </a:xfrm>
          <a:prstGeom prst="rect">
            <a:avLst/>
          </a:prstGeom>
          <a:noFill/>
        </p:spPr>
        <p:txBody>
          <a:bodyPr wrap="square">
            <a:spAutoFit/>
          </a:bodyPr>
          <a:lstStyle/>
          <a:p>
            <a:r>
              <a:rPr sz="1400">
                <a:solidFill>
                  <a:srgbClr val="5C6673"/>
                </a:solidFill>
              </a:rPr>
              <a:t>Tidak dibutuhkan
Bukan fitur analisis</a:t>
            </a:r>
          </a:p>
        </p:txBody>
      </p:sp>
      <p:sp>
        <p:nvSpPr>
          <p:cNvPr id="22" name="Rounded Rectangle 21"/>
          <p:cNvSpPr/>
          <p:nvPr/>
        </p:nvSpPr>
        <p:spPr>
          <a:xfrm>
            <a:off x="4434840" y="3337560"/>
            <a:ext cx="3429000" cy="17830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337560"/>
            <a:ext cx="73152" cy="1783080"/>
          </a:xfrm>
          <a:prstGeom prst="rect">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0" y="3502152"/>
            <a:ext cx="3017520" cy="384048"/>
          </a:xfrm>
          <a:prstGeom prst="rect">
            <a:avLst/>
          </a:prstGeom>
          <a:noFill/>
        </p:spPr>
        <p:txBody>
          <a:bodyPr wrap="none">
            <a:spAutoFit/>
          </a:bodyPr>
          <a:lstStyle/>
          <a:p>
            <a:r>
              <a:rPr sz="1800" b="1">
                <a:solidFill>
                  <a:srgbClr val="1C2D4A"/>
                </a:solidFill>
              </a:rPr>
              <a:t>Outlier</a:t>
            </a:r>
          </a:p>
        </p:txBody>
      </p:sp>
      <p:sp>
        <p:nvSpPr>
          <p:cNvPr id="25" name="TextBox 24"/>
          <p:cNvSpPr txBox="1"/>
          <p:nvPr/>
        </p:nvSpPr>
        <p:spPr>
          <a:xfrm>
            <a:off x="4663440" y="3959352"/>
            <a:ext cx="3017520" cy="1005840"/>
          </a:xfrm>
          <a:prstGeom prst="rect">
            <a:avLst/>
          </a:prstGeom>
          <a:noFill/>
        </p:spPr>
        <p:txBody>
          <a:bodyPr wrap="square">
            <a:spAutoFit/>
          </a:bodyPr>
          <a:lstStyle/>
          <a:p>
            <a:r>
              <a:rPr sz="1400">
                <a:solidFill>
                  <a:srgbClr val="5C6673"/>
                </a:solidFill>
              </a:rPr>
              <a:t>Perlu dipantau
Tidak langsung dihapus</a:t>
            </a:r>
          </a:p>
        </p:txBody>
      </p:sp>
      <p:sp>
        <p:nvSpPr>
          <p:cNvPr id="26" name="Rounded Rectangle 25"/>
          <p:cNvSpPr/>
          <p:nvPr/>
        </p:nvSpPr>
        <p:spPr>
          <a:xfrm>
            <a:off x="8229600" y="3337560"/>
            <a:ext cx="3429000" cy="17830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29600" y="3337560"/>
            <a:ext cx="73152" cy="178308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58200" y="3502152"/>
            <a:ext cx="3017520" cy="384048"/>
          </a:xfrm>
          <a:prstGeom prst="rect">
            <a:avLst/>
          </a:prstGeom>
          <a:noFill/>
        </p:spPr>
        <p:txBody>
          <a:bodyPr wrap="none">
            <a:spAutoFit/>
          </a:bodyPr>
          <a:lstStyle/>
          <a:p>
            <a:r>
              <a:rPr sz="1800" b="1">
                <a:solidFill>
                  <a:srgbClr val="1C2D4A"/>
                </a:solidFill>
              </a:rPr>
              <a:t>Kategori</a:t>
            </a:r>
          </a:p>
        </p:txBody>
      </p:sp>
      <p:sp>
        <p:nvSpPr>
          <p:cNvPr id="29" name="TextBox 28"/>
          <p:cNvSpPr txBox="1"/>
          <p:nvPr/>
        </p:nvSpPr>
        <p:spPr>
          <a:xfrm>
            <a:off x="8458200" y="3959352"/>
            <a:ext cx="3017520" cy="1005840"/>
          </a:xfrm>
          <a:prstGeom prst="rect">
            <a:avLst/>
          </a:prstGeom>
          <a:noFill/>
        </p:spPr>
        <p:txBody>
          <a:bodyPr wrap="square">
            <a:spAutoFit/>
          </a:bodyPr>
          <a:lstStyle/>
          <a:p>
            <a:r>
              <a:rPr sz="1400">
                <a:solidFill>
                  <a:srgbClr val="5C6673"/>
                </a:solidFill>
              </a:rPr>
              <a:t>Konsisten
3 species valid</a:t>
            </a:r>
          </a:p>
        </p:txBody>
      </p:sp>
      <p:sp>
        <p:nvSpPr>
          <p:cNvPr id="30" name="Rectangle 29"/>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81360" y="6565392"/>
            <a:ext cx="640080" cy="201168"/>
          </a:xfrm>
          <a:prstGeom prst="rect">
            <a:avLst/>
          </a:prstGeom>
          <a:noFill/>
        </p:spPr>
        <p:txBody>
          <a:bodyPr wrap="none">
            <a:spAutoFit/>
          </a:bodyPr>
          <a:lstStyle/>
          <a:p>
            <a:pPr algn="r"/>
            <a:r>
              <a:rPr sz="900">
                <a:solidFill>
                  <a:srgbClr val="5C6673"/>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3. Langkah-Langkah Cleaning</a:t>
            </a:r>
          </a:p>
        </p:txBody>
      </p:sp>
      <p:sp>
        <p:nvSpPr>
          <p:cNvPr id="6" name="Rounded Rectangle 5"/>
          <p:cNvSpPr/>
          <p:nvPr/>
        </p:nvSpPr>
        <p:spPr>
          <a:xfrm>
            <a:off x="594360" y="1097280"/>
            <a:ext cx="3383280" cy="1828800"/>
          </a:xfrm>
          <a:prstGeom prst="roundRect">
            <a:avLst/>
          </a:prstGeom>
          <a:solidFill>
            <a:srgbClr val="F4F6F8"/>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1298448"/>
            <a:ext cx="566928" cy="566928"/>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344168"/>
            <a:ext cx="566928" cy="274320"/>
          </a:xfrm>
          <a:prstGeom prst="rect">
            <a:avLst/>
          </a:prstGeom>
          <a:noFill/>
        </p:spPr>
        <p:txBody>
          <a:bodyPr wrap="none">
            <a:spAutoFit/>
          </a:bodyPr>
          <a:lstStyle/>
          <a:p>
            <a:pPr algn="ctr"/>
            <a:r>
              <a:rPr sz="1100" b="1">
                <a:solidFill>
                  <a:srgbClr val="FFFFFF"/>
                </a:solidFill>
              </a:rPr>
              <a:t>01</a:t>
            </a:r>
          </a:p>
        </p:txBody>
      </p:sp>
      <p:sp>
        <p:nvSpPr>
          <p:cNvPr id="9" name="TextBox 8"/>
          <p:cNvSpPr txBox="1"/>
          <p:nvPr/>
        </p:nvSpPr>
        <p:spPr>
          <a:xfrm>
            <a:off x="1463040" y="1280160"/>
            <a:ext cx="2240280" cy="457200"/>
          </a:xfrm>
          <a:prstGeom prst="rect">
            <a:avLst/>
          </a:prstGeom>
          <a:noFill/>
        </p:spPr>
        <p:txBody>
          <a:bodyPr wrap="none">
            <a:spAutoFit/>
          </a:bodyPr>
          <a:lstStyle/>
          <a:p>
            <a:r>
              <a:rPr sz="1700" b="1">
                <a:solidFill>
                  <a:srgbClr val="1C2D4A"/>
                </a:solidFill>
              </a:rPr>
              <a:t>Load data</a:t>
            </a:r>
          </a:p>
        </p:txBody>
      </p:sp>
      <p:sp>
        <p:nvSpPr>
          <p:cNvPr id="10" name="TextBox 9"/>
          <p:cNvSpPr txBox="1"/>
          <p:nvPr/>
        </p:nvSpPr>
        <p:spPr>
          <a:xfrm>
            <a:off x="777240" y="1965960"/>
            <a:ext cx="2971800" cy="731520"/>
          </a:xfrm>
          <a:prstGeom prst="rect">
            <a:avLst/>
          </a:prstGeom>
          <a:noFill/>
        </p:spPr>
        <p:txBody>
          <a:bodyPr wrap="none">
            <a:spAutoFit/>
          </a:bodyPr>
          <a:lstStyle/>
          <a:p>
            <a:r>
              <a:rPr sz="1300">
                <a:solidFill>
                  <a:srgbClr val="5C6673"/>
                </a:solidFill>
              </a:rPr>
              <a:t>Baca Iris.csv dengan Pandas.</a:t>
            </a:r>
          </a:p>
        </p:txBody>
      </p:sp>
      <p:sp>
        <p:nvSpPr>
          <p:cNvPr id="11" name="Rounded Rectangle 10"/>
          <p:cNvSpPr/>
          <p:nvPr/>
        </p:nvSpPr>
        <p:spPr>
          <a:xfrm>
            <a:off x="4389120" y="1097280"/>
            <a:ext cx="3383280" cy="1828800"/>
          </a:xfrm>
          <a:prstGeom prst="roundRect">
            <a:avLst/>
          </a:prstGeom>
          <a:solidFill>
            <a:srgbClr val="F4F6F8"/>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72000" y="1298448"/>
            <a:ext cx="566928" cy="566928"/>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344168"/>
            <a:ext cx="566928" cy="274320"/>
          </a:xfrm>
          <a:prstGeom prst="rect">
            <a:avLst/>
          </a:prstGeom>
          <a:noFill/>
        </p:spPr>
        <p:txBody>
          <a:bodyPr wrap="none">
            <a:spAutoFit/>
          </a:bodyPr>
          <a:lstStyle/>
          <a:p>
            <a:pPr algn="ctr"/>
            <a:r>
              <a:rPr sz="1100" b="1">
                <a:solidFill>
                  <a:srgbClr val="FFFFFF"/>
                </a:solidFill>
              </a:rPr>
              <a:t>02</a:t>
            </a:r>
          </a:p>
        </p:txBody>
      </p:sp>
      <p:sp>
        <p:nvSpPr>
          <p:cNvPr id="14" name="TextBox 13"/>
          <p:cNvSpPr txBox="1"/>
          <p:nvPr/>
        </p:nvSpPr>
        <p:spPr>
          <a:xfrm>
            <a:off x="5257800" y="1280160"/>
            <a:ext cx="2240280" cy="457200"/>
          </a:xfrm>
          <a:prstGeom prst="rect">
            <a:avLst/>
          </a:prstGeom>
          <a:noFill/>
        </p:spPr>
        <p:txBody>
          <a:bodyPr wrap="none">
            <a:spAutoFit/>
          </a:bodyPr>
          <a:lstStyle/>
          <a:p>
            <a:r>
              <a:rPr sz="1700" b="1">
                <a:solidFill>
                  <a:srgbClr val="1C2D4A"/>
                </a:solidFill>
              </a:rPr>
              <a:t>Audit awal</a:t>
            </a:r>
          </a:p>
        </p:txBody>
      </p:sp>
      <p:sp>
        <p:nvSpPr>
          <p:cNvPr id="15" name="TextBox 14"/>
          <p:cNvSpPr txBox="1"/>
          <p:nvPr/>
        </p:nvSpPr>
        <p:spPr>
          <a:xfrm>
            <a:off x="4572000" y="1965960"/>
            <a:ext cx="2971800" cy="731520"/>
          </a:xfrm>
          <a:prstGeom prst="rect">
            <a:avLst/>
          </a:prstGeom>
          <a:noFill/>
        </p:spPr>
        <p:txBody>
          <a:bodyPr wrap="none">
            <a:spAutoFit/>
          </a:bodyPr>
          <a:lstStyle/>
          <a:p>
            <a:r>
              <a:rPr sz="1300">
                <a:solidFill>
                  <a:srgbClr val="5C6673"/>
                </a:solidFill>
              </a:rPr>
              <a:t>info(), isnull(), duplicated(), describe().</a:t>
            </a:r>
          </a:p>
        </p:txBody>
      </p:sp>
      <p:sp>
        <p:nvSpPr>
          <p:cNvPr id="16" name="Rounded Rectangle 15"/>
          <p:cNvSpPr/>
          <p:nvPr/>
        </p:nvSpPr>
        <p:spPr>
          <a:xfrm>
            <a:off x="8183880" y="1097280"/>
            <a:ext cx="3383280" cy="1828800"/>
          </a:xfrm>
          <a:prstGeom prst="roundRect">
            <a:avLst/>
          </a:prstGeom>
          <a:solidFill>
            <a:srgbClr val="F4F6F8"/>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66760" y="1298448"/>
            <a:ext cx="566928" cy="566928"/>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1344168"/>
            <a:ext cx="566928" cy="274320"/>
          </a:xfrm>
          <a:prstGeom prst="rect">
            <a:avLst/>
          </a:prstGeom>
          <a:noFill/>
        </p:spPr>
        <p:txBody>
          <a:bodyPr wrap="none">
            <a:spAutoFit/>
          </a:bodyPr>
          <a:lstStyle/>
          <a:p>
            <a:pPr algn="ctr"/>
            <a:r>
              <a:rPr sz="1100" b="1">
                <a:solidFill>
                  <a:srgbClr val="FFFFFF"/>
                </a:solidFill>
              </a:rPr>
              <a:t>03</a:t>
            </a:r>
          </a:p>
        </p:txBody>
      </p:sp>
      <p:sp>
        <p:nvSpPr>
          <p:cNvPr id="19" name="TextBox 18"/>
          <p:cNvSpPr txBox="1"/>
          <p:nvPr/>
        </p:nvSpPr>
        <p:spPr>
          <a:xfrm>
            <a:off x="9052560" y="1280160"/>
            <a:ext cx="2240280" cy="457200"/>
          </a:xfrm>
          <a:prstGeom prst="rect">
            <a:avLst/>
          </a:prstGeom>
          <a:noFill/>
        </p:spPr>
        <p:txBody>
          <a:bodyPr wrap="none">
            <a:spAutoFit/>
          </a:bodyPr>
          <a:lstStyle/>
          <a:p>
            <a:r>
              <a:rPr sz="1700" b="1">
                <a:solidFill>
                  <a:srgbClr val="1C2D4A"/>
                </a:solidFill>
              </a:rPr>
              <a:t>Cek kategori</a:t>
            </a:r>
          </a:p>
        </p:txBody>
      </p:sp>
      <p:sp>
        <p:nvSpPr>
          <p:cNvPr id="20" name="TextBox 19"/>
          <p:cNvSpPr txBox="1"/>
          <p:nvPr/>
        </p:nvSpPr>
        <p:spPr>
          <a:xfrm>
            <a:off x="8366760" y="1965960"/>
            <a:ext cx="2971800" cy="731520"/>
          </a:xfrm>
          <a:prstGeom prst="rect">
            <a:avLst/>
          </a:prstGeom>
          <a:noFill/>
        </p:spPr>
        <p:txBody>
          <a:bodyPr wrap="none">
            <a:spAutoFit/>
          </a:bodyPr>
          <a:lstStyle/>
          <a:p>
            <a:r>
              <a:rPr sz="1300">
                <a:solidFill>
                  <a:srgbClr val="5C6673"/>
                </a:solidFill>
              </a:rPr>
              <a:t>Periksa nilai Species dan konsistensinya.</a:t>
            </a:r>
          </a:p>
        </p:txBody>
      </p:sp>
      <p:sp>
        <p:nvSpPr>
          <p:cNvPr id="21" name="Rounded Rectangle 20"/>
          <p:cNvSpPr/>
          <p:nvPr/>
        </p:nvSpPr>
        <p:spPr>
          <a:xfrm>
            <a:off x="594360" y="3429000"/>
            <a:ext cx="3383280" cy="1828800"/>
          </a:xfrm>
          <a:prstGeom prst="roundRect">
            <a:avLst/>
          </a:prstGeom>
          <a:solidFill>
            <a:srgbClr val="F4F6F8"/>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3630168"/>
            <a:ext cx="566928" cy="566928"/>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675887"/>
            <a:ext cx="566928" cy="274320"/>
          </a:xfrm>
          <a:prstGeom prst="rect">
            <a:avLst/>
          </a:prstGeom>
          <a:noFill/>
        </p:spPr>
        <p:txBody>
          <a:bodyPr wrap="none">
            <a:spAutoFit/>
          </a:bodyPr>
          <a:lstStyle/>
          <a:p>
            <a:pPr algn="ctr"/>
            <a:r>
              <a:rPr sz="1100" b="1">
                <a:solidFill>
                  <a:srgbClr val="FFFFFF"/>
                </a:solidFill>
              </a:rPr>
              <a:t>04</a:t>
            </a:r>
          </a:p>
        </p:txBody>
      </p:sp>
      <p:sp>
        <p:nvSpPr>
          <p:cNvPr id="24" name="TextBox 23"/>
          <p:cNvSpPr txBox="1"/>
          <p:nvPr/>
        </p:nvSpPr>
        <p:spPr>
          <a:xfrm>
            <a:off x="1463040" y="3611880"/>
            <a:ext cx="2240280" cy="457200"/>
          </a:xfrm>
          <a:prstGeom prst="rect">
            <a:avLst/>
          </a:prstGeom>
          <a:noFill/>
        </p:spPr>
        <p:txBody>
          <a:bodyPr wrap="none">
            <a:spAutoFit/>
          </a:bodyPr>
          <a:lstStyle/>
          <a:p>
            <a:r>
              <a:rPr sz="1700" b="1">
                <a:solidFill>
                  <a:srgbClr val="1C2D4A"/>
                </a:solidFill>
              </a:rPr>
              <a:t>Standarisasi</a:t>
            </a:r>
          </a:p>
        </p:txBody>
      </p:sp>
      <p:sp>
        <p:nvSpPr>
          <p:cNvPr id="25" name="TextBox 24"/>
          <p:cNvSpPr txBox="1"/>
          <p:nvPr/>
        </p:nvSpPr>
        <p:spPr>
          <a:xfrm>
            <a:off x="777240" y="4297680"/>
            <a:ext cx="2971800" cy="731520"/>
          </a:xfrm>
          <a:prstGeom prst="rect">
            <a:avLst/>
          </a:prstGeom>
          <a:noFill/>
        </p:spPr>
        <p:txBody>
          <a:bodyPr wrap="none">
            <a:spAutoFit/>
          </a:bodyPr>
          <a:lstStyle/>
          <a:p>
            <a:r>
              <a:rPr sz="1300">
                <a:solidFill>
                  <a:srgbClr val="5C6673"/>
                </a:solidFill>
              </a:rPr>
              <a:t>Nama kolom → lowercase + snake_case.</a:t>
            </a:r>
          </a:p>
        </p:txBody>
      </p:sp>
      <p:sp>
        <p:nvSpPr>
          <p:cNvPr id="26" name="Rounded Rectangle 25"/>
          <p:cNvSpPr/>
          <p:nvPr/>
        </p:nvSpPr>
        <p:spPr>
          <a:xfrm>
            <a:off x="4389120" y="3429000"/>
            <a:ext cx="3383280" cy="1828800"/>
          </a:xfrm>
          <a:prstGeom prst="roundRect">
            <a:avLst/>
          </a:prstGeom>
          <a:solidFill>
            <a:srgbClr val="F4F6F8"/>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572000" y="3630168"/>
            <a:ext cx="566928" cy="566928"/>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0" y="3675887"/>
            <a:ext cx="566928" cy="274320"/>
          </a:xfrm>
          <a:prstGeom prst="rect">
            <a:avLst/>
          </a:prstGeom>
          <a:noFill/>
        </p:spPr>
        <p:txBody>
          <a:bodyPr wrap="none">
            <a:spAutoFit/>
          </a:bodyPr>
          <a:lstStyle/>
          <a:p>
            <a:pPr algn="ctr"/>
            <a:r>
              <a:rPr sz="1100" b="1">
                <a:solidFill>
                  <a:srgbClr val="FFFFFF"/>
                </a:solidFill>
              </a:rPr>
              <a:t>05</a:t>
            </a:r>
          </a:p>
        </p:txBody>
      </p:sp>
      <p:sp>
        <p:nvSpPr>
          <p:cNvPr id="29" name="TextBox 28"/>
          <p:cNvSpPr txBox="1"/>
          <p:nvPr/>
        </p:nvSpPr>
        <p:spPr>
          <a:xfrm>
            <a:off x="5257800" y="3611880"/>
            <a:ext cx="2240280" cy="457200"/>
          </a:xfrm>
          <a:prstGeom prst="rect">
            <a:avLst/>
          </a:prstGeom>
          <a:noFill/>
        </p:spPr>
        <p:txBody>
          <a:bodyPr wrap="none">
            <a:spAutoFit/>
          </a:bodyPr>
          <a:lstStyle/>
          <a:p>
            <a:r>
              <a:rPr sz="1700" b="1">
                <a:solidFill>
                  <a:srgbClr val="1C2D4A"/>
                </a:solidFill>
              </a:rPr>
              <a:t>Hapus ID</a:t>
            </a:r>
          </a:p>
        </p:txBody>
      </p:sp>
      <p:sp>
        <p:nvSpPr>
          <p:cNvPr id="30" name="TextBox 29"/>
          <p:cNvSpPr txBox="1"/>
          <p:nvPr/>
        </p:nvSpPr>
        <p:spPr>
          <a:xfrm>
            <a:off x="4572000" y="4297680"/>
            <a:ext cx="2971800" cy="731520"/>
          </a:xfrm>
          <a:prstGeom prst="rect">
            <a:avLst/>
          </a:prstGeom>
          <a:noFill/>
        </p:spPr>
        <p:txBody>
          <a:bodyPr wrap="none">
            <a:spAutoFit/>
          </a:bodyPr>
          <a:lstStyle/>
          <a:p>
            <a:r>
              <a:rPr sz="1300">
                <a:solidFill>
                  <a:srgbClr val="5C6673"/>
                </a:solidFill>
              </a:rPr>
              <a:t>Kolom id dihapus karena tidak informatif untuk analisis.</a:t>
            </a:r>
          </a:p>
        </p:txBody>
      </p:sp>
      <p:sp>
        <p:nvSpPr>
          <p:cNvPr id="31" name="Rounded Rectangle 30"/>
          <p:cNvSpPr/>
          <p:nvPr/>
        </p:nvSpPr>
        <p:spPr>
          <a:xfrm>
            <a:off x="8183880" y="3429000"/>
            <a:ext cx="3383280" cy="1828800"/>
          </a:xfrm>
          <a:prstGeom prst="roundRect">
            <a:avLst/>
          </a:prstGeom>
          <a:solidFill>
            <a:srgbClr val="F4F6F8"/>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366760" y="3630168"/>
            <a:ext cx="566928" cy="566928"/>
          </a:xfrm>
          <a:prstGeom prst="ellipse">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66760" y="3675887"/>
            <a:ext cx="566928" cy="274320"/>
          </a:xfrm>
          <a:prstGeom prst="rect">
            <a:avLst/>
          </a:prstGeom>
          <a:noFill/>
        </p:spPr>
        <p:txBody>
          <a:bodyPr wrap="none">
            <a:spAutoFit/>
          </a:bodyPr>
          <a:lstStyle/>
          <a:p>
            <a:pPr algn="ctr"/>
            <a:r>
              <a:rPr sz="1100" b="1">
                <a:solidFill>
                  <a:srgbClr val="FFFFFF"/>
                </a:solidFill>
              </a:rPr>
              <a:t>06</a:t>
            </a:r>
          </a:p>
        </p:txBody>
      </p:sp>
      <p:sp>
        <p:nvSpPr>
          <p:cNvPr id="34" name="TextBox 33"/>
          <p:cNvSpPr txBox="1"/>
          <p:nvPr/>
        </p:nvSpPr>
        <p:spPr>
          <a:xfrm>
            <a:off x="9052560" y="3611880"/>
            <a:ext cx="2240280" cy="457200"/>
          </a:xfrm>
          <a:prstGeom prst="rect">
            <a:avLst/>
          </a:prstGeom>
          <a:noFill/>
        </p:spPr>
        <p:txBody>
          <a:bodyPr wrap="none">
            <a:spAutoFit/>
          </a:bodyPr>
          <a:lstStyle/>
          <a:p>
            <a:r>
              <a:rPr sz="1700" b="1">
                <a:solidFill>
                  <a:srgbClr val="1C2D4A"/>
                </a:solidFill>
              </a:rPr>
              <a:t>Validasi akhir</a:t>
            </a:r>
          </a:p>
        </p:txBody>
      </p:sp>
      <p:sp>
        <p:nvSpPr>
          <p:cNvPr id="35" name="TextBox 34"/>
          <p:cNvSpPr txBox="1"/>
          <p:nvPr/>
        </p:nvSpPr>
        <p:spPr>
          <a:xfrm>
            <a:off x="8366760" y="4297680"/>
            <a:ext cx="2971800" cy="731520"/>
          </a:xfrm>
          <a:prstGeom prst="rect">
            <a:avLst/>
          </a:prstGeom>
          <a:noFill/>
        </p:spPr>
        <p:txBody>
          <a:bodyPr wrap="none">
            <a:spAutoFit/>
          </a:bodyPr>
          <a:lstStyle/>
          <a:p>
            <a:r>
              <a:rPr sz="1300">
                <a:solidFill>
                  <a:srgbClr val="5C6673"/>
                </a:solidFill>
              </a:rPr>
              <a:t>Pastikan shape, tipe data, dan nilai tetap benar.</a:t>
            </a:r>
          </a:p>
        </p:txBody>
      </p:sp>
      <p:sp>
        <p:nvSpPr>
          <p:cNvPr id="36" name="Rectangle 35"/>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81360" y="6565392"/>
            <a:ext cx="640080" cy="201168"/>
          </a:xfrm>
          <a:prstGeom prst="rect">
            <a:avLst/>
          </a:prstGeom>
          <a:noFill/>
        </p:spPr>
        <p:txBody>
          <a:bodyPr wrap="none">
            <a:spAutoFit/>
          </a:bodyPr>
          <a:lstStyle/>
          <a:p>
            <a:pPr algn="r"/>
            <a:r>
              <a:rPr sz="900">
                <a:solidFill>
                  <a:srgbClr val="5C6673"/>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4. Perubahan yang Dilakukan</a:t>
            </a:r>
          </a:p>
        </p:txBody>
      </p:sp>
      <p:sp>
        <p:nvSpPr>
          <p:cNvPr id="6" name="Rounded Rectangle 5"/>
          <p:cNvSpPr/>
          <p:nvPr/>
        </p:nvSpPr>
        <p:spPr>
          <a:xfrm>
            <a:off x="640080" y="1097280"/>
            <a:ext cx="5120640" cy="420624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097280"/>
            <a:ext cx="73152" cy="4206240"/>
          </a:xfrm>
          <a:prstGeom prst="rect">
            <a:avLst/>
          </a:prstGeom>
          <a:solidFill>
            <a:srgbClr val="CD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261872"/>
            <a:ext cx="4709159" cy="384048"/>
          </a:xfrm>
          <a:prstGeom prst="rect">
            <a:avLst/>
          </a:prstGeom>
          <a:noFill/>
        </p:spPr>
        <p:txBody>
          <a:bodyPr wrap="none">
            <a:spAutoFit/>
          </a:bodyPr>
          <a:lstStyle/>
          <a:p>
            <a:r>
              <a:rPr sz="1800" b="1">
                <a:solidFill>
                  <a:srgbClr val="1C2D4A"/>
                </a:solidFill>
              </a:rPr>
              <a:t>SEBELUM CLEANING</a:t>
            </a:r>
          </a:p>
        </p:txBody>
      </p:sp>
      <p:sp>
        <p:nvSpPr>
          <p:cNvPr id="9" name="TextBox 8"/>
          <p:cNvSpPr txBox="1"/>
          <p:nvPr/>
        </p:nvSpPr>
        <p:spPr>
          <a:xfrm>
            <a:off x="868680" y="1719072"/>
            <a:ext cx="4709159" cy="3428999"/>
          </a:xfrm>
          <a:prstGeom prst="rect">
            <a:avLst/>
          </a:prstGeom>
          <a:noFill/>
        </p:spPr>
        <p:txBody>
          <a:bodyPr wrap="square">
            <a:spAutoFit/>
          </a:bodyPr>
          <a:lstStyle/>
          <a:p>
            <a:r>
              <a:rPr sz="1400">
                <a:solidFill>
                  <a:srgbClr val="5C6673"/>
                </a:solidFill>
              </a:rPr>
              <a:t>Id
SepalLengthCm
SepalWidthCm
PetalLengthCm
PetalWidthCm
Species</a:t>
            </a:r>
          </a:p>
        </p:txBody>
      </p:sp>
      <p:sp>
        <p:nvSpPr>
          <p:cNvPr id="10" name="Rounded Rectangle 9"/>
          <p:cNvSpPr/>
          <p:nvPr/>
        </p:nvSpPr>
        <p:spPr>
          <a:xfrm>
            <a:off x="6400800" y="1097280"/>
            <a:ext cx="5120640" cy="420624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097280"/>
            <a:ext cx="73152" cy="420624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261872"/>
            <a:ext cx="4709159" cy="384048"/>
          </a:xfrm>
          <a:prstGeom prst="rect">
            <a:avLst/>
          </a:prstGeom>
          <a:noFill/>
        </p:spPr>
        <p:txBody>
          <a:bodyPr wrap="none">
            <a:spAutoFit/>
          </a:bodyPr>
          <a:lstStyle/>
          <a:p>
            <a:r>
              <a:rPr sz="1800" b="1">
                <a:solidFill>
                  <a:srgbClr val="1C2D4A"/>
                </a:solidFill>
              </a:rPr>
              <a:t>SETELAH CLEANING</a:t>
            </a:r>
          </a:p>
        </p:txBody>
      </p:sp>
      <p:sp>
        <p:nvSpPr>
          <p:cNvPr id="13" name="TextBox 12"/>
          <p:cNvSpPr txBox="1"/>
          <p:nvPr/>
        </p:nvSpPr>
        <p:spPr>
          <a:xfrm>
            <a:off x="6629400" y="1719072"/>
            <a:ext cx="4709159" cy="3428999"/>
          </a:xfrm>
          <a:prstGeom prst="rect">
            <a:avLst/>
          </a:prstGeom>
          <a:noFill/>
        </p:spPr>
        <p:txBody>
          <a:bodyPr wrap="square">
            <a:spAutoFit/>
          </a:bodyPr>
          <a:lstStyle/>
          <a:p>
            <a:r>
              <a:rPr sz="1400">
                <a:solidFill>
                  <a:srgbClr val="5C6673"/>
                </a:solidFill>
              </a:rPr>
              <a:t>sepal_length_cm
sepal_width_cm
petal_length_cm
petal_width_cm
species
+ id dihapus karena tidak digunakan.</a:t>
            </a:r>
          </a:p>
        </p:txBody>
      </p:sp>
      <p:sp>
        <p:nvSpPr>
          <p:cNvPr id="14" name="Right Arrow 13"/>
          <p:cNvSpPr/>
          <p:nvPr/>
        </p:nvSpPr>
        <p:spPr>
          <a:xfrm>
            <a:off x="5669280" y="2743200"/>
            <a:ext cx="822960" cy="640080"/>
          </a:xfrm>
          <a:prstGeom prst="rightArrow">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881360" y="6565392"/>
            <a:ext cx="640080" cy="201168"/>
          </a:xfrm>
          <a:prstGeom prst="rect">
            <a:avLst/>
          </a:prstGeom>
          <a:noFill/>
        </p:spPr>
        <p:txBody>
          <a:bodyPr wrap="none">
            <a:spAutoFit/>
          </a:bodyPr>
          <a:lstStyle/>
          <a:p>
            <a:pPr algn="r"/>
            <a:r>
              <a:rPr sz="900">
                <a:solidFill>
                  <a:srgbClr val="5C6673"/>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5. Feature Engineering</a:t>
            </a:r>
          </a:p>
        </p:txBody>
      </p:sp>
      <p:sp>
        <p:nvSpPr>
          <p:cNvPr id="6" name="Rounded Rectangle 5"/>
          <p:cNvSpPr/>
          <p:nvPr/>
        </p:nvSpPr>
        <p:spPr>
          <a:xfrm>
            <a:off x="685800" y="1143000"/>
            <a:ext cx="5166360" cy="19659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143000"/>
            <a:ext cx="73152" cy="1965960"/>
          </a:xfrm>
          <a:prstGeom prst="rect">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307592"/>
            <a:ext cx="4754880" cy="384048"/>
          </a:xfrm>
          <a:prstGeom prst="rect">
            <a:avLst/>
          </a:prstGeom>
          <a:noFill/>
        </p:spPr>
        <p:txBody>
          <a:bodyPr wrap="none">
            <a:spAutoFit/>
          </a:bodyPr>
          <a:lstStyle/>
          <a:p>
            <a:r>
              <a:rPr sz="1800" b="1">
                <a:solidFill>
                  <a:srgbClr val="1C2D4A"/>
                </a:solidFill>
              </a:rPr>
              <a:t>Fitur baru 1 — sepal_area</a:t>
            </a:r>
          </a:p>
        </p:txBody>
      </p:sp>
      <p:sp>
        <p:nvSpPr>
          <p:cNvPr id="9" name="TextBox 8"/>
          <p:cNvSpPr txBox="1"/>
          <p:nvPr/>
        </p:nvSpPr>
        <p:spPr>
          <a:xfrm>
            <a:off x="914400" y="1764792"/>
            <a:ext cx="4754880" cy="1188719"/>
          </a:xfrm>
          <a:prstGeom prst="rect">
            <a:avLst/>
          </a:prstGeom>
          <a:noFill/>
        </p:spPr>
        <p:txBody>
          <a:bodyPr wrap="square">
            <a:spAutoFit/>
          </a:bodyPr>
          <a:lstStyle/>
          <a:p>
            <a:r>
              <a:rPr sz="1400">
                <a:solidFill>
                  <a:srgbClr val="5C6673"/>
                </a:solidFill>
              </a:rPr>
              <a:t>sepal_area = sepal_length_cm × sepal_width_cm
Menggambarkan luas sederhana area sepal.</a:t>
            </a:r>
          </a:p>
        </p:txBody>
      </p:sp>
      <p:sp>
        <p:nvSpPr>
          <p:cNvPr id="10" name="Rounded Rectangle 9"/>
          <p:cNvSpPr/>
          <p:nvPr/>
        </p:nvSpPr>
        <p:spPr>
          <a:xfrm>
            <a:off x="6355080" y="1143000"/>
            <a:ext cx="5166360" cy="19659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55080" y="1143000"/>
            <a:ext cx="73152" cy="1965960"/>
          </a:xfrm>
          <a:prstGeom prst="rect">
            <a:avLst/>
          </a:prstGeom>
          <a:solidFill>
            <a:srgbClr val="34A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1307592"/>
            <a:ext cx="4754880" cy="384048"/>
          </a:xfrm>
          <a:prstGeom prst="rect">
            <a:avLst/>
          </a:prstGeom>
          <a:noFill/>
        </p:spPr>
        <p:txBody>
          <a:bodyPr wrap="none">
            <a:spAutoFit/>
          </a:bodyPr>
          <a:lstStyle/>
          <a:p>
            <a:r>
              <a:rPr sz="1800" b="1">
                <a:solidFill>
                  <a:srgbClr val="1C2D4A"/>
                </a:solidFill>
              </a:rPr>
              <a:t>Fitur baru 2 — petal_area</a:t>
            </a:r>
          </a:p>
        </p:txBody>
      </p:sp>
      <p:sp>
        <p:nvSpPr>
          <p:cNvPr id="13" name="TextBox 12"/>
          <p:cNvSpPr txBox="1"/>
          <p:nvPr/>
        </p:nvSpPr>
        <p:spPr>
          <a:xfrm>
            <a:off x="6583680" y="1764792"/>
            <a:ext cx="4754880" cy="1188719"/>
          </a:xfrm>
          <a:prstGeom prst="rect">
            <a:avLst/>
          </a:prstGeom>
          <a:noFill/>
        </p:spPr>
        <p:txBody>
          <a:bodyPr wrap="square">
            <a:spAutoFit/>
          </a:bodyPr>
          <a:lstStyle/>
          <a:p>
            <a:r>
              <a:rPr sz="1400">
                <a:solidFill>
                  <a:srgbClr val="5C6673"/>
                </a:solidFill>
              </a:rPr>
              <a:t>petal_area = petal_length_cm × petal_width_cm
Menggambarkan luas sederhana area petal.</a:t>
            </a:r>
          </a:p>
        </p:txBody>
      </p:sp>
      <p:sp>
        <p:nvSpPr>
          <p:cNvPr id="14" name="Rounded Rectangle 13"/>
          <p:cNvSpPr/>
          <p:nvPr/>
        </p:nvSpPr>
        <p:spPr>
          <a:xfrm>
            <a:off x="685800" y="3429000"/>
            <a:ext cx="10835640" cy="155448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3429000"/>
            <a:ext cx="73152" cy="1554480"/>
          </a:xfrm>
          <a:prstGeom prst="rect">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593592"/>
            <a:ext cx="10424160" cy="384048"/>
          </a:xfrm>
          <a:prstGeom prst="rect">
            <a:avLst/>
          </a:prstGeom>
          <a:noFill/>
        </p:spPr>
        <p:txBody>
          <a:bodyPr wrap="none">
            <a:spAutoFit/>
          </a:bodyPr>
          <a:lstStyle/>
          <a:p>
            <a:r>
              <a:rPr sz="1800" b="1">
                <a:solidFill>
                  <a:srgbClr val="1C2D4A"/>
                </a:solidFill>
              </a:rPr>
              <a:t>Kenapa dibuat?</a:t>
            </a:r>
          </a:p>
        </p:txBody>
      </p:sp>
      <p:sp>
        <p:nvSpPr>
          <p:cNvPr id="17" name="TextBox 16"/>
          <p:cNvSpPr txBox="1"/>
          <p:nvPr/>
        </p:nvSpPr>
        <p:spPr>
          <a:xfrm>
            <a:off x="914400" y="4050791"/>
            <a:ext cx="10424160" cy="777240"/>
          </a:xfrm>
          <a:prstGeom prst="rect">
            <a:avLst/>
          </a:prstGeom>
          <a:noFill/>
        </p:spPr>
        <p:txBody>
          <a:bodyPr wrap="square">
            <a:spAutoFit/>
          </a:bodyPr>
          <a:lstStyle/>
          <a:p>
            <a:r>
              <a:rPr sz="1400">
                <a:solidFill>
                  <a:srgbClr val="5C6673"/>
                </a:solidFill>
              </a:rPr>
              <a:t>Mengubah dua ukuran menjadi satu fitur turunan sehingga pola ukuran dapat lebih mudah dibandingkan dan dianalisis.</a:t>
            </a:r>
          </a:p>
        </p:txBody>
      </p:sp>
      <p:sp>
        <p:nvSpPr>
          <p:cNvPr id="18" name="Rectangle 17"/>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81360" y="6565392"/>
            <a:ext cx="640080" cy="201168"/>
          </a:xfrm>
          <a:prstGeom prst="rect">
            <a:avLst/>
          </a:prstGeom>
          <a:noFill/>
        </p:spPr>
        <p:txBody>
          <a:bodyPr wrap="none">
            <a:spAutoFit/>
          </a:bodyPr>
          <a:lstStyle/>
          <a:p>
            <a:pPr algn="r"/>
            <a:r>
              <a:rPr sz="900">
                <a:solidFill>
                  <a:srgbClr val="5C6673"/>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6. Dataset Final</a:t>
            </a:r>
          </a:p>
        </p:txBody>
      </p:sp>
      <p:sp>
        <p:nvSpPr>
          <p:cNvPr id="6" name="Rounded Rectangle 5"/>
          <p:cNvSpPr/>
          <p:nvPr/>
        </p:nvSpPr>
        <p:spPr>
          <a:xfrm>
            <a:off x="685800" y="1097280"/>
            <a:ext cx="301752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097280"/>
            <a:ext cx="73152" cy="1828800"/>
          </a:xfrm>
          <a:prstGeom prst="rect">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261872"/>
            <a:ext cx="2606039" cy="384048"/>
          </a:xfrm>
          <a:prstGeom prst="rect">
            <a:avLst/>
          </a:prstGeom>
          <a:noFill/>
        </p:spPr>
        <p:txBody>
          <a:bodyPr wrap="none">
            <a:spAutoFit/>
          </a:bodyPr>
          <a:lstStyle/>
          <a:p>
            <a:r>
              <a:rPr sz="1800" b="1">
                <a:solidFill>
                  <a:srgbClr val="1C2D4A"/>
                </a:solidFill>
              </a:rPr>
              <a:t>150 baris</a:t>
            </a:r>
          </a:p>
        </p:txBody>
      </p:sp>
      <p:sp>
        <p:nvSpPr>
          <p:cNvPr id="9" name="TextBox 8"/>
          <p:cNvSpPr txBox="1"/>
          <p:nvPr/>
        </p:nvSpPr>
        <p:spPr>
          <a:xfrm>
            <a:off x="914400" y="1719072"/>
            <a:ext cx="2606039" cy="1051560"/>
          </a:xfrm>
          <a:prstGeom prst="rect">
            <a:avLst/>
          </a:prstGeom>
          <a:noFill/>
        </p:spPr>
        <p:txBody>
          <a:bodyPr wrap="square">
            <a:spAutoFit/>
          </a:bodyPr>
          <a:lstStyle/>
          <a:p>
            <a:r>
              <a:rPr sz="1400">
                <a:solidFill>
                  <a:srgbClr val="5C6673"/>
                </a:solidFill>
              </a:rPr>
              <a:t>Jumlah data tetap sama.</a:t>
            </a:r>
          </a:p>
        </p:txBody>
      </p:sp>
      <p:sp>
        <p:nvSpPr>
          <p:cNvPr id="10" name="Rounded Rectangle 9"/>
          <p:cNvSpPr/>
          <p:nvPr/>
        </p:nvSpPr>
        <p:spPr>
          <a:xfrm>
            <a:off x="3931920" y="1097280"/>
            <a:ext cx="301752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931920" y="1097280"/>
            <a:ext cx="73152" cy="1828800"/>
          </a:xfrm>
          <a:prstGeom prst="rect">
            <a:avLst/>
          </a:prstGeom>
          <a:solidFill>
            <a:srgbClr val="34A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0520" y="1261872"/>
            <a:ext cx="2606039" cy="384048"/>
          </a:xfrm>
          <a:prstGeom prst="rect">
            <a:avLst/>
          </a:prstGeom>
          <a:noFill/>
        </p:spPr>
        <p:txBody>
          <a:bodyPr wrap="none">
            <a:spAutoFit/>
          </a:bodyPr>
          <a:lstStyle/>
          <a:p>
            <a:r>
              <a:rPr sz="1800" b="1">
                <a:solidFill>
                  <a:srgbClr val="1C2D4A"/>
                </a:solidFill>
              </a:rPr>
              <a:t>7 kolom</a:t>
            </a:r>
          </a:p>
        </p:txBody>
      </p:sp>
      <p:sp>
        <p:nvSpPr>
          <p:cNvPr id="13" name="TextBox 12"/>
          <p:cNvSpPr txBox="1"/>
          <p:nvPr/>
        </p:nvSpPr>
        <p:spPr>
          <a:xfrm>
            <a:off x="4160520" y="1719072"/>
            <a:ext cx="2606039" cy="1051560"/>
          </a:xfrm>
          <a:prstGeom prst="rect">
            <a:avLst/>
          </a:prstGeom>
          <a:noFill/>
        </p:spPr>
        <p:txBody>
          <a:bodyPr wrap="square">
            <a:spAutoFit/>
          </a:bodyPr>
          <a:lstStyle/>
          <a:p>
            <a:r>
              <a:rPr sz="1400">
                <a:solidFill>
                  <a:srgbClr val="5C6673"/>
                </a:solidFill>
              </a:rPr>
              <a:t>4 fitur asli + 2 fitur turunan + species.</a:t>
            </a:r>
          </a:p>
        </p:txBody>
      </p:sp>
      <p:sp>
        <p:nvSpPr>
          <p:cNvPr id="14" name="Rounded Rectangle 13"/>
          <p:cNvSpPr/>
          <p:nvPr/>
        </p:nvSpPr>
        <p:spPr>
          <a:xfrm>
            <a:off x="7178040" y="1097280"/>
            <a:ext cx="4343400" cy="1828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178040" y="1097280"/>
            <a:ext cx="73152" cy="182880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1261872"/>
            <a:ext cx="3931920" cy="384048"/>
          </a:xfrm>
          <a:prstGeom prst="rect">
            <a:avLst/>
          </a:prstGeom>
          <a:noFill/>
        </p:spPr>
        <p:txBody>
          <a:bodyPr wrap="none">
            <a:spAutoFit/>
          </a:bodyPr>
          <a:lstStyle/>
          <a:p>
            <a:r>
              <a:rPr sz="1800" b="1">
                <a:solidFill>
                  <a:srgbClr val="1C2D4A"/>
                </a:solidFill>
              </a:rPr>
              <a:t>Lebih siap dianalisis</a:t>
            </a:r>
          </a:p>
        </p:txBody>
      </p:sp>
      <p:sp>
        <p:nvSpPr>
          <p:cNvPr id="17" name="TextBox 16"/>
          <p:cNvSpPr txBox="1"/>
          <p:nvPr/>
        </p:nvSpPr>
        <p:spPr>
          <a:xfrm>
            <a:off x="7406640" y="1719072"/>
            <a:ext cx="3931920" cy="1051560"/>
          </a:xfrm>
          <a:prstGeom prst="rect">
            <a:avLst/>
          </a:prstGeom>
          <a:noFill/>
        </p:spPr>
        <p:txBody>
          <a:bodyPr wrap="square">
            <a:spAutoFit/>
          </a:bodyPr>
          <a:lstStyle/>
          <a:p>
            <a:r>
              <a:rPr sz="1400">
                <a:solidFill>
                  <a:srgbClr val="5C6673"/>
                </a:solidFill>
              </a:rPr>
              <a:t>Nama kolom konsisten dan ID tidak relevan sudah dihapus.</a:t>
            </a:r>
          </a:p>
        </p:txBody>
      </p:sp>
      <p:sp>
        <p:nvSpPr>
          <p:cNvPr id="18" name="Rounded Rectangle 17"/>
          <p:cNvSpPr/>
          <p:nvPr/>
        </p:nvSpPr>
        <p:spPr>
          <a:xfrm>
            <a:off x="822960" y="3429000"/>
            <a:ext cx="1508760" cy="713232"/>
          </a:xfrm>
          <a:prstGeom prst="roundRect">
            <a:avLst/>
          </a:prstGeom>
          <a:solidFill>
            <a:srgbClr val="E8F2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3557016"/>
            <a:ext cx="1417319" cy="457200"/>
          </a:xfrm>
          <a:prstGeom prst="rect">
            <a:avLst/>
          </a:prstGeom>
          <a:noFill/>
        </p:spPr>
        <p:txBody>
          <a:bodyPr wrap="none">
            <a:spAutoFit/>
          </a:bodyPr>
          <a:lstStyle/>
          <a:p>
            <a:pPr algn="ctr"/>
            <a:r>
              <a:rPr sz="950" b="1">
                <a:solidFill>
                  <a:srgbClr val="1C2D4A"/>
                </a:solidFill>
              </a:rPr>
              <a:t>sepal_length_cm</a:t>
            </a:r>
          </a:p>
        </p:txBody>
      </p:sp>
      <p:sp>
        <p:nvSpPr>
          <p:cNvPr id="20" name="Rounded Rectangle 19"/>
          <p:cNvSpPr/>
          <p:nvPr/>
        </p:nvSpPr>
        <p:spPr>
          <a:xfrm>
            <a:off x="2441448" y="3429000"/>
            <a:ext cx="1508760" cy="713232"/>
          </a:xfrm>
          <a:prstGeom prst="roundRect">
            <a:avLst/>
          </a:prstGeom>
          <a:solidFill>
            <a:srgbClr val="E8F2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87168" y="3557016"/>
            <a:ext cx="1417319" cy="457200"/>
          </a:xfrm>
          <a:prstGeom prst="rect">
            <a:avLst/>
          </a:prstGeom>
          <a:noFill/>
        </p:spPr>
        <p:txBody>
          <a:bodyPr wrap="none">
            <a:spAutoFit/>
          </a:bodyPr>
          <a:lstStyle/>
          <a:p>
            <a:pPr algn="ctr"/>
            <a:r>
              <a:rPr sz="950" b="1">
                <a:solidFill>
                  <a:srgbClr val="1C2D4A"/>
                </a:solidFill>
              </a:rPr>
              <a:t>sepal_width_cm</a:t>
            </a:r>
          </a:p>
        </p:txBody>
      </p:sp>
      <p:sp>
        <p:nvSpPr>
          <p:cNvPr id="22" name="Rounded Rectangle 21"/>
          <p:cNvSpPr/>
          <p:nvPr/>
        </p:nvSpPr>
        <p:spPr>
          <a:xfrm>
            <a:off x="4059935" y="3429000"/>
            <a:ext cx="1508760" cy="713232"/>
          </a:xfrm>
          <a:prstGeom prst="roundRect">
            <a:avLst/>
          </a:prstGeom>
          <a:solidFill>
            <a:srgbClr val="E8F2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05655" y="3557016"/>
            <a:ext cx="1417319" cy="457200"/>
          </a:xfrm>
          <a:prstGeom prst="rect">
            <a:avLst/>
          </a:prstGeom>
          <a:noFill/>
        </p:spPr>
        <p:txBody>
          <a:bodyPr wrap="none">
            <a:spAutoFit/>
          </a:bodyPr>
          <a:lstStyle/>
          <a:p>
            <a:pPr algn="ctr"/>
            <a:r>
              <a:rPr sz="950" b="1">
                <a:solidFill>
                  <a:srgbClr val="1C2D4A"/>
                </a:solidFill>
              </a:rPr>
              <a:t>petal_length_cm</a:t>
            </a:r>
          </a:p>
        </p:txBody>
      </p:sp>
      <p:sp>
        <p:nvSpPr>
          <p:cNvPr id="24" name="Rounded Rectangle 23"/>
          <p:cNvSpPr/>
          <p:nvPr/>
        </p:nvSpPr>
        <p:spPr>
          <a:xfrm>
            <a:off x="5678423" y="3429000"/>
            <a:ext cx="1508760" cy="713232"/>
          </a:xfrm>
          <a:prstGeom prst="roundRect">
            <a:avLst/>
          </a:prstGeom>
          <a:solidFill>
            <a:srgbClr val="E8F2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24143" y="3557016"/>
            <a:ext cx="1417319" cy="457200"/>
          </a:xfrm>
          <a:prstGeom prst="rect">
            <a:avLst/>
          </a:prstGeom>
          <a:noFill/>
        </p:spPr>
        <p:txBody>
          <a:bodyPr wrap="none">
            <a:spAutoFit/>
          </a:bodyPr>
          <a:lstStyle/>
          <a:p>
            <a:pPr algn="ctr"/>
            <a:r>
              <a:rPr sz="950" b="1">
                <a:solidFill>
                  <a:srgbClr val="1C2D4A"/>
                </a:solidFill>
              </a:rPr>
              <a:t>petal_width_cm</a:t>
            </a:r>
          </a:p>
        </p:txBody>
      </p:sp>
      <p:sp>
        <p:nvSpPr>
          <p:cNvPr id="26" name="Rounded Rectangle 25"/>
          <p:cNvSpPr/>
          <p:nvPr/>
        </p:nvSpPr>
        <p:spPr>
          <a:xfrm>
            <a:off x="7296911" y="3429000"/>
            <a:ext cx="1143000" cy="713232"/>
          </a:xfrm>
          <a:prstGeom prst="roundRect">
            <a:avLst/>
          </a:prstGeom>
          <a:solidFill>
            <a:srgbClr val="E6F8F0"/>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42631" y="3557016"/>
            <a:ext cx="1051560" cy="457200"/>
          </a:xfrm>
          <a:prstGeom prst="rect">
            <a:avLst/>
          </a:prstGeom>
          <a:noFill/>
        </p:spPr>
        <p:txBody>
          <a:bodyPr wrap="none">
            <a:spAutoFit/>
          </a:bodyPr>
          <a:lstStyle/>
          <a:p>
            <a:pPr algn="ctr"/>
            <a:r>
              <a:rPr sz="950" b="1">
                <a:solidFill>
                  <a:srgbClr val="1C2D4A"/>
                </a:solidFill>
              </a:rPr>
              <a:t>species</a:t>
            </a:r>
          </a:p>
        </p:txBody>
      </p:sp>
      <p:sp>
        <p:nvSpPr>
          <p:cNvPr id="28" name="Rounded Rectangle 27"/>
          <p:cNvSpPr/>
          <p:nvPr/>
        </p:nvSpPr>
        <p:spPr>
          <a:xfrm>
            <a:off x="8549639" y="3429000"/>
            <a:ext cx="1417320" cy="713232"/>
          </a:xfrm>
          <a:prstGeom prst="roundRect">
            <a:avLst/>
          </a:prstGeom>
          <a:solidFill>
            <a:srgbClr val="FFF1D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95359" y="3557016"/>
            <a:ext cx="1325880" cy="457200"/>
          </a:xfrm>
          <a:prstGeom prst="rect">
            <a:avLst/>
          </a:prstGeom>
          <a:noFill/>
        </p:spPr>
        <p:txBody>
          <a:bodyPr wrap="none">
            <a:spAutoFit/>
          </a:bodyPr>
          <a:lstStyle/>
          <a:p>
            <a:pPr algn="ctr"/>
            <a:r>
              <a:rPr sz="950" b="1">
                <a:solidFill>
                  <a:srgbClr val="1C2D4A"/>
                </a:solidFill>
              </a:rPr>
              <a:t>sepal_area</a:t>
            </a:r>
          </a:p>
        </p:txBody>
      </p:sp>
      <p:sp>
        <p:nvSpPr>
          <p:cNvPr id="30" name="Rounded Rectangle 29"/>
          <p:cNvSpPr/>
          <p:nvPr/>
        </p:nvSpPr>
        <p:spPr>
          <a:xfrm>
            <a:off x="10076687" y="3429000"/>
            <a:ext cx="1417320" cy="713232"/>
          </a:xfrm>
          <a:prstGeom prst="roundRect">
            <a:avLst/>
          </a:prstGeom>
          <a:solidFill>
            <a:srgbClr val="FFF1D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22407" y="3557016"/>
            <a:ext cx="1325880" cy="457200"/>
          </a:xfrm>
          <a:prstGeom prst="rect">
            <a:avLst/>
          </a:prstGeom>
          <a:noFill/>
        </p:spPr>
        <p:txBody>
          <a:bodyPr wrap="none">
            <a:spAutoFit/>
          </a:bodyPr>
          <a:lstStyle/>
          <a:p>
            <a:pPr algn="ctr"/>
            <a:r>
              <a:rPr sz="950" b="1">
                <a:solidFill>
                  <a:srgbClr val="1C2D4A"/>
                </a:solidFill>
              </a:rPr>
              <a:t>petal_area</a:t>
            </a:r>
          </a:p>
        </p:txBody>
      </p:sp>
      <p:sp>
        <p:nvSpPr>
          <p:cNvPr id="32" name="Rectangle 31"/>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881360" y="6565392"/>
            <a:ext cx="640080" cy="201168"/>
          </a:xfrm>
          <a:prstGeom prst="rect">
            <a:avLst/>
          </a:prstGeom>
          <a:noFill/>
        </p:spPr>
        <p:txBody>
          <a:bodyPr wrap="none">
            <a:spAutoFit/>
          </a:bodyPr>
          <a:lstStyle/>
          <a:p>
            <a:pPr algn="r"/>
            <a:r>
              <a:rPr sz="900">
                <a:solidFill>
                  <a:srgbClr val="5C6673"/>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7. Insight Awal Setelah Cleaning</a:t>
            </a:r>
          </a:p>
        </p:txBody>
      </p:sp>
      <p:sp>
        <p:nvSpPr>
          <p:cNvPr id="6" name="Rounded Rectangle 5"/>
          <p:cNvSpPr/>
          <p:nvPr/>
        </p:nvSpPr>
        <p:spPr>
          <a:xfrm>
            <a:off x="640080" y="1051560"/>
            <a:ext cx="3474720" cy="438912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051560"/>
            <a:ext cx="73152" cy="4389120"/>
          </a:xfrm>
          <a:prstGeom prst="rect">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216151"/>
            <a:ext cx="3063239" cy="384048"/>
          </a:xfrm>
          <a:prstGeom prst="rect">
            <a:avLst/>
          </a:prstGeom>
          <a:noFill/>
        </p:spPr>
        <p:txBody>
          <a:bodyPr wrap="none">
            <a:spAutoFit/>
          </a:bodyPr>
          <a:lstStyle/>
          <a:p>
            <a:r>
              <a:rPr sz="1800" b="1">
                <a:solidFill>
                  <a:srgbClr val="1C2D4A"/>
                </a:solidFill>
              </a:rPr>
              <a:t>01 — Petal sangat informatif</a:t>
            </a:r>
          </a:p>
        </p:txBody>
      </p:sp>
      <p:sp>
        <p:nvSpPr>
          <p:cNvPr id="9" name="TextBox 8"/>
          <p:cNvSpPr txBox="1"/>
          <p:nvPr/>
        </p:nvSpPr>
        <p:spPr>
          <a:xfrm>
            <a:off x="868680" y="1673352"/>
            <a:ext cx="3063239" cy="3611879"/>
          </a:xfrm>
          <a:prstGeom prst="rect">
            <a:avLst/>
          </a:prstGeom>
          <a:noFill/>
        </p:spPr>
        <p:txBody>
          <a:bodyPr wrap="square">
            <a:spAutoFit/>
          </a:bodyPr>
          <a:lstStyle/>
          <a:p>
            <a:r>
              <a:rPr sz="1400">
                <a:solidFill>
                  <a:srgbClr val="5C6673"/>
                </a:solidFill>
              </a:rPr>
              <a:t>Perbedaan ukuran petal antar-species terlihat jelas. Petal length dan petal width menjadi fitur yang kuat untuk membedakan kelas.</a:t>
            </a:r>
          </a:p>
        </p:txBody>
      </p:sp>
      <p:sp>
        <p:nvSpPr>
          <p:cNvPr id="10" name="Rounded Rectangle 9"/>
          <p:cNvSpPr/>
          <p:nvPr/>
        </p:nvSpPr>
        <p:spPr>
          <a:xfrm>
            <a:off x="4343400" y="1051560"/>
            <a:ext cx="3474720" cy="438912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051560"/>
            <a:ext cx="73152" cy="4389120"/>
          </a:xfrm>
          <a:prstGeom prst="rect">
            <a:avLst/>
          </a:prstGeom>
          <a:solidFill>
            <a:srgbClr val="34A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216151"/>
            <a:ext cx="3063239" cy="384048"/>
          </a:xfrm>
          <a:prstGeom prst="rect">
            <a:avLst/>
          </a:prstGeom>
          <a:noFill/>
        </p:spPr>
        <p:txBody>
          <a:bodyPr wrap="none">
            <a:spAutoFit/>
          </a:bodyPr>
          <a:lstStyle/>
          <a:p>
            <a:r>
              <a:rPr sz="1800" b="1">
                <a:solidFill>
                  <a:srgbClr val="1C2D4A"/>
                </a:solidFill>
              </a:rPr>
              <a:t>02 — Setosa paling berbeda</a:t>
            </a:r>
          </a:p>
        </p:txBody>
      </p:sp>
      <p:sp>
        <p:nvSpPr>
          <p:cNvPr id="13" name="TextBox 12"/>
          <p:cNvSpPr txBox="1"/>
          <p:nvPr/>
        </p:nvSpPr>
        <p:spPr>
          <a:xfrm>
            <a:off x="4572000" y="1673352"/>
            <a:ext cx="3063239" cy="3611879"/>
          </a:xfrm>
          <a:prstGeom prst="rect">
            <a:avLst/>
          </a:prstGeom>
          <a:noFill/>
        </p:spPr>
        <p:txBody>
          <a:bodyPr wrap="square">
            <a:spAutoFit/>
          </a:bodyPr>
          <a:lstStyle/>
          <a:p>
            <a:r>
              <a:rPr sz="1400">
                <a:solidFill>
                  <a:srgbClr val="5C6673"/>
                </a:solidFill>
              </a:rPr>
              <a:t>Iris-setosa memiliki ukuran petal yang relatif jauh lebih kecil dibanding dua species lainnya, sehingga cenderung mudah dipisahkan.</a:t>
            </a:r>
          </a:p>
        </p:txBody>
      </p:sp>
      <p:sp>
        <p:nvSpPr>
          <p:cNvPr id="14" name="Rounded Rectangle 13"/>
          <p:cNvSpPr/>
          <p:nvPr/>
        </p:nvSpPr>
        <p:spPr>
          <a:xfrm>
            <a:off x="8046720" y="1051560"/>
            <a:ext cx="3474720" cy="438912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051560"/>
            <a:ext cx="73152" cy="4389120"/>
          </a:xfrm>
          <a:prstGeom prst="rect">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1216151"/>
            <a:ext cx="3063239" cy="384048"/>
          </a:xfrm>
          <a:prstGeom prst="rect">
            <a:avLst/>
          </a:prstGeom>
          <a:noFill/>
        </p:spPr>
        <p:txBody>
          <a:bodyPr wrap="none">
            <a:spAutoFit/>
          </a:bodyPr>
          <a:lstStyle/>
          <a:p>
            <a:r>
              <a:rPr sz="1800" b="1">
                <a:solidFill>
                  <a:srgbClr val="1C2D4A"/>
                </a:solidFill>
              </a:rPr>
              <a:t>03 — Fitur turunan membantu</a:t>
            </a:r>
          </a:p>
        </p:txBody>
      </p:sp>
      <p:sp>
        <p:nvSpPr>
          <p:cNvPr id="17" name="TextBox 16"/>
          <p:cNvSpPr txBox="1"/>
          <p:nvPr/>
        </p:nvSpPr>
        <p:spPr>
          <a:xfrm>
            <a:off x="8275320" y="1673352"/>
            <a:ext cx="3063239" cy="3611879"/>
          </a:xfrm>
          <a:prstGeom prst="rect">
            <a:avLst/>
          </a:prstGeom>
          <a:noFill/>
        </p:spPr>
        <p:txBody>
          <a:bodyPr wrap="square">
            <a:spAutoFit/>
          </a:bodyPr>
          <a:lstStyle/>
          <a:p>
            <a:r>
              <a:rPr sz="1400">
                <a:solidFill>
                  <a:srgbClr val="5C6673"/>
                </a:solidFill>
              </a:rPr>
              <a:t>Petal_area dan sepal_area merangkum informasi panjang × lebar dan dapat dipakai untuk eksplorasi pola berikutnya.</a:t>
            </a:r>
          </a:p>
        </p:txBody>
      </p:sp>
      <p:sp>
        <p:nvSpPr>
          <p:cNvPr id="18" name="Rectangle 17"/>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81360" y="6565392"/>
            <a:ext cx="640080" cy="201168"/>
          </a:xfrm>
          <a:prstGeom prst="rect">
            <a:avLst/>
          </a:prstGeom>
          <a:noFill/>
        </p:spPr>
        <p:txBody>
          <a:bodyPr wrap="none">
            <a:spAutoFit/>
          </a:bodyPr>
          <a:lstStyle/>
          <a:p>
            <a:pPr algn="r"/>
            <a:r>
              <a:rPr sz="900">
                <a:solidFill>
                  <a:srgbClr val="5C6673"/>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8046720" cy="384048"/>
          </a:xfrm>
          <a:prstGeom prst="rect">
            <a:avLst/>
          </a:prstGeom>
          <a:noFill/>
        </p:spPr>
        <p:txBody>
          <a:bodyPr wrap="none">
            <a:spAutoFit/>
          </a:bodyPr>
          <a:lstStyle/>
          <a:p>
            <a:r>
              <a:rPr sz="2500" b="1">
                <a:solidFill>
                  <a:srgbClr val="FFFFFF"/>
                </a:solidFill>
              </a:rPr>
              <a:t>Ringkasan: Dari Data Mentah → Data Siap Analisis</a:t>
            </a:r>
          </a:p>
        </p:txBody>
      </p:sp>
      <p:sp>
        <p:nvSpPr>
          <p:cNvPr id="6" name="Rounded Rectangle 5"/>
          <p:cNvSpPr/>
          <p:nvPr/>
        </p:nvSpPr>
        <p:spPr>
          <a:xfrm>
            <a:off x="640080" y="1645920"/>
            <a:ext cx="2423160" cy="21945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45920"/>
            <a:ext cx="73152" cy="2194560"/>
          </a:xfrm>
          <a:prstGeom prst="rect">
            <a:avLst/>
          </a:prstGeom>
          <a:solidFill>
            <a:srgbClr val="3D8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10512"/>
            <a:ext cx="2011679" cy="384048"/>
          </a:xfrm>
          <a:prstGeom prst="rect">
            <a:avLst/>
          </a:prstGeom>
          <a:noFill/>
        </p:spPr>
        <p:txBody>
          <a:bodyPr wrap="none">
            <a:spAutoFit/>
          </a:bodyPr>
          <a:lstStyle/>
          <a:p>
            <a:r>
              <a:rPr sz="1800" b="1">
                <a:solidFill>
                  <a:srgbClr val="1C2D4A"/>
                </a:solidFill>
              </a:rPr>
              <a:t>AUDIT</a:t>
            </a:r>
          </a:p>
        </p:txBody>
      </p:sp>
      <p:sp>
        <p:nvSpPr>
          <p:cNvPr id="9" name="TextBox 8"/>
          <p:cNvSpPr txBox="1"/>
          <p:nvPr/>
        </p:nvSpPr>
        <p:spPr>
          <a:xfrm>
            <a:off x="868680" y="2267712"/>
            <a:ext cx="2011679" cy="1417319"/>
          </a:xfrm>
          <a:prstGeom prst="rect">
            <a:avLst/>
          </a:prstGeom>
          <a:noFill/>
        </p:spPr>
        <p:txBody>
          <a:bodyPr wrap="square">
            <a:spAutoFit/>
          </a:bodyPr>
          <a:lstStyle/>
          <a:p>
            <a:r>
              <a:rPr sz="1400">
                <a:solidFill>
                  <a:srgbClr val="5C6673"/>
                </a:solidFill>
              </a:rPr>
              <a:t>0 missing
0 duplicate</a:t>
            </a:r>
          </a:p>
        </p:txBody>
      </p:sp>
      <p:sp>
        <p:nvSpPr>
          <p:cNvPr id="10" name="Right Arrow 9"/>
          <p:cNvSpPr/>
          <p:nvPr/>
        </p:nvSpPr>
        <p:spPr>
          <a:xfrm>
            <a:off x="3108960" y="2331720"/>
            <a:ext cx="347472" cy="502920"/>
          </a:xfrm>
          <a:prstGeom prst="rightArrow">
            <a:avLst/>
          </a:prstGeom>
          <a:solidFill>
            <a:srgbClr val="5C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74720" y="1645920"/>
            <a:ext cx="2423160" cy="21945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74720" y="1645920"/>
            <a:ext cx="73152" cy="2194560"/>
          </a:xfrm>
          <a:prstGeom prst="rect">
            <a:avLst/>
          </a:prstGeom>
          <a:solidFill>
            <a:srgbClr val="34A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03320" y="1810512"/>
            <a:ext cx="2011679" cy="384048"/>
          </a:xfrm>
          <a:prstGeom prst="rect">
            <a:avLst/>
          </a:prstGeom>
          <a:noFill/>
        </p:spPr>
        <p:txBody>
          <a:bodyPr wrap="none">
            <a:spAutoFit/>
          </a:bodyPr>
          <a:lstStyle/>
          <a:p>
            <a:r>
              <a:rPr sz="1800" b="1">
                <a:solidFill>
                  <a:srgbClr val="1C2D4A"/>
                </a:solidFill>
              </a:rPr>
              <a:t>CLEANING</a:t>
            </a:r>
          </a:p>
        </p:txBody>
      </p:sp>
      <p:sp>
        <p:nvSpPr>
          <p:cNvPr id="14" name="TextBox 13"/>
          <p:cNvSpPr txBox="1"/>
          <p:nvPr/>
        </p:nvSpPr>
        <p:spPr>
          <a:xfrm>
            <a:off x="3703320" y="2267712"/>
            <a:ext cx="2011679" cy="1417319"/>
          </a:xfrm>
          <a:prstGeom prst="rect">
            <a:avLst/>
          </a:prstGeom>
          <a:noFill/>
        </p:spPr>
        <p:txBody>
          <a:bodyPr wrap="square">
            <a:spAutoFit/>
          </a:bodyPr>
          <a:lstStyle/>
          <a:p>
            <a:r>
              <a:rPr sz="1400">
                <a:solidFill>
                  <a:srgbClr val="5C6673"/>
                </a:solidFill>
              </a:rPr>
              <a:t>Kolom konsisten
ID dihapus</a:t>
            </a:r>
          </a:p>
        </p:txBody>
      </p:sp>
      <p:sp>
        <p:nvSpPr>
          <p:cNvPr id="15" name="Right Arrow 14"/>
          <p:cNvSpPr/>
          <p:nvPr/>
        </p:nvSpPr>
        <p:spPr>
          <a:xfrm>
            <a:off x="5943600" y="2331720"/>
            <a:ext cx="347472" cy="502920"/>
          </a:xfrm>
          <a:prstGeom prst="rightArrow">
            <a:avLst/>
          </a:prstGeom>
          <a:solidFill>
            <a:srgbClr val="5C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09360" y="1645920"/>
            <a:ext cx="2423160" cy="21945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1645920"/>
            <a:ext cx="73152" cy="2194560"/>
          </a:xfrm>
          <a:prstGeom prst="rect">
            <a:avLst/>
          </a:prstGeom>
          <a:solidFill>
            <a:srgbClr val="EB9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1810512"/>
            <a:ext cx="2011679" cy="384048"/>
          </a:xfrm>
          <a:prstGeom prst="rect">
            <a:avLst/>
          </a:prstGeom>
          <a:noFill/>
        </p:spPr>
        <p:txBody>
          <a:bodyPr wrap="none">
            <a:spAutoFit/>
          </a:bodyPr>
          <a:lstStyle/>
          <a:p>
            <a:r>
              <a:rPr sz="1800" b="1">
                <a:solidFill>
                  <a:srgbClr val="1C2D4A"/>
                </a:solidFill>
              </a:rPr>
              <a:t>ENGINEERING</a:t>
            </a:r>
          </a:p>
        </p:txBody>
      </p:sp>
      <p:sp>
        <p:nvSpPr>
          <p:cNvPr id="19" name="TextBox 18"/>
          <p:cNvSpPr txBox="1"/>
          <p:nvPr/>
        </p:nvSpPr>
        <p:spPr>
          <a:xfrm>
            <a:off x="6537960" y="2267712"/>
            <a:ext cx="2011679" cy="1417319"/>
          </a:xfrm>
          <a:prstGeom prst="rect">
            <a:avLst/>
          </a:prstGeom>
          <a:noFill/>
        </p:spPr>
        <p:txBody>
          <a:bodyPr wrap="square">
            <a:spAutoFit/>
          </a:bodyPr>
          <a:lstStyle/>
          <a:p>
            <a:r>
              <a:rPr sz="1400">
                <a:solidFill>
                  <a:srgbClr val="5C6673"/>
                </a:solidFill>
              </a:rPr>
              <a:t>2 fitur area
sepal &amp; petal</a:t>
            </a:r>
          </a:p>
        </p:txBody>
      </p:sp>
      <p:sp>
        <p:nvSpPr>
          <p:cNvPr id="20" name="Right Arrow 19"/>
          <p:cNvSpPr/>
          <p:nvPr/>
        </p:nvSpPr>
        <p:spPr>
          <a:xfrm>
            <a:off x="8778240" y="2331720"/>
            <a:ext cx="347472" cy="502920"/>
          </a:xfrm>
          <a:prstGeom prst="rightArrow">
            <a:avLst/>
          </a:prstGeom>
          <a:solidFill>
            <a:srgbClr val="5C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144000" y="1645920"/>
            <a:ext cx="2423160" cy="21945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44000" y="1645920"/>
            <a:ext cx="73152" cy="2194560"/>
          </a:xfrm>
          <a:prstGeom prst="rect">
            <a:avLst/>
          </a:prstGeom>
          <a:solidFill>
            <a:srgbClr val="4F9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72600" y="1810512"/>
            <a:ext cx="2011679" cy="384048"/>
          </a:xfrm>
          <a:prstGeom prst="rect">
            <a:avLst/>
          </a:prstGeom>
          <a:noFill/>
        </p:spPr>
        <p:txBody>
          <a:bodyPr wrap="none">
            <a:spAutoFit/>
          </a:bodyPr>
          <a:lstStyle/>
          <a:p>
            <a:r>
              <a:rPr sz="1800" b="1">
                <a:solidFill>
                  <a:srgbClr val="1C2D4A"/>
                </a:solidFill>
              </a:rPr>
              <a:t>FINAL</a:t>
            </a:r>
          </a:p>
        </p:txBody>
      </p:sp>
      <p:sp>
        <p:nvSpPr>
          <p:cNvPr id="24" name="TextBox 23"/>
          <p:cNvSpPr txBox="1"/>
          <p:nvPr/>
        </p:nvSpPr>
        <p:spPr>
          <a:xfrm>
            <a:off x="9372600" y="2267712"/>
            <a:ext cx="2011679" cy="1417319"/>
          </a:xfrm>
          <a:prstGeom prst="rect">
            <a:avLst/>
          </a:prstGeom>
          <a:noFill/>
        </p:spPr>
        <p:txBody>
          <a:bodyPr wrap="square">
            <a:spAutoFit/>
          </a:bodyPr>
          <a:lstStyle/>
          <a:p>
            <a:r>
              <a:rPr sz="1400">
                <a:solidFill>
                  <a:srgbClr val="5C6673"/>
                </a:solidFill>
              </a:rPr>
              <a:t>150 × 7
Siap dianalisis</a:t>
            </a:r>
          </a:p>
        </p:txBody>
      </p:sp>
      <p:sp>
        <p:nvSpPr>
          <p:cNvPr id="25" name="TextBox 24"/>
          <p:cNvSpPr txBox="1"/>
          <p:nvPr/>
        </p:nvSpPr>
        <p:spPr>
          <a:xfrm>
            <a:off x="1097280" y="4663440"/>
            <a:ext cx="9966960" cy="914400"/>
          </a:xfrm>
          <a:prstGeom prst="rect">
            <a:avLst/>
          </a:prstGeom>
          <a:noFill/>
        </p:spPr>
        <p:txBody>
          <a:bodyPr wrap="none">
            <a:spAutoFit/>
          </a:bodyPr>
          <a:lstStyle/>
          <a:p>
            <a:pPr algn="ctr"/>
            <a:r>
              <a:rPr sz="2100" b="1">
                <a:solidFill>
                  <a:srgbClr val="1C2D4A"/>
                </a:solidFill>
              </a:rPr>
              <a:t>“Tujuan cleaning bukan sekadar menghapus data, tetapi memastikan data konsisten, relevan, dan siap digunakan.”</a:t>
            </a:r>
          </a:p>
        </p:txBody>
      </p:sp>
      <p:sp>
        <p:nvSpPr>
          <p:cNvPr id="26" name="Rectangle 25"/>
          <p:cNvSpPr/>
          <p:nvPr/>
        </p:nvSpPr>
        <p:spPr>
          <a:xfrm>
            <a:off x="502920" y="6537960"/>
            <a:ext cx="11155680" cy="18288"/>
          </a:xfrm>
          <a:prstGeom prst="rect">
            <a:avLst/>
          </a:prstGeom>
          <a:solidFill>
            <a:srgbClr val="E8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881360" y="6565392"/>
            <a:ext cx="640080" cy="201168"/>
          </a:xfrm>
          <a:prstGeom prst="rect">
            <a:avLst/>
          </a:prstGeom>
          <a:noFill/>
        </p:spPr>
        <p:txBody>
          <a:bodyPr wrap="none">
            <a:spAutoFit/>
          </a:bodyPr>
          <a:lstStyle/>
          <a:p>
            <a:pPr algn="r"/>
            <a:r>
              <a:rPr sz="900">
                <a:solidFill>
                  <a:srgbClr val="5C6673"/>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554480"/>
            <a:ext cx="10332720" cy="914400"/>
          </a:xfrm>
          <a:prstGeom prst="rect">
            <a:avLst/>
          </a:prstGeom>
          <a:noFill/>
        </p:spPr>
        <p:txBody>
          <a:bodyPr wrap="none">
            <a:spAutoFit/>
          </a:bodyPr>
          <a:lstStyle/>
          <a:p>
            <a:pPr algn="ctr"/>
            <a:r>
              <a:rPr sz="3800" b="1">
                <a:solidFill>
                  <a:srgbClr val="FFFFFF"/>
                </a:solidFill>
              </a:rPr>
              <a:t>TERIMA KASIH</a:t>
            </a:r>
          </a:p>
        </p:txBody>
      </p:sp>
      <p:sp>
        <p:nvSpPr>
          <p:cNvPr id="4" name="TextBox 3"/>
          <p:cNvSpPr txBox="1"/>
          <p:nvPr/>
        </p:nvSpPr>
        <p:spPr>
          <a:xfrm>
            <a:off x="1280160" y="2743200"/>
            <a:ext cx="9601200" cy="1280160"/>
          </a:xfrm>
          <a:prstGeom prst="rect">
            <a:avLst/>
          </a:prstGeom>
          <a:noFill/>
        </p:spPr>
        <p:txBody>
          <a:bodyPr wrap="none">
            <a:spAutoFit/>
          </a:bodyPr>
          <a:lstStyle/>
          <a:p>
            <a:pPr algn="ctr"/>
            <a:r>
              <a:rPr sz="2300">
                <a:solidFill>
                  <a:srgbClr val="D2E1F2"/>
                </a:solidFill>
              </a:rPr>
              <a:t>Data Cleaning &amp; Preparation — Iris Species</a:t>
            </a:r>
          </a:p>
          <a:p>
            <a:pPr algn="ctr"/>
            <a:r>
              <a:rPr sz="1800">
                <a:solidFill>
                  <a:srgbClr val="B4CDE6"/>
                </a:solidFill>
              </a:rPr>
              <a:t>Siap untuk analisis tahap berikutnya.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TotalTime>
  <Words>806</Words>
  <Application>Microsoft Office PowerPoint</Application>
  <PresentationFormat>Widescreen</PresentationFormat>
  <Paragraphs>113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generated using python-pptx</dc:description>
  <cp:lastModifiedBy>Windows User</cp:lastModifiedBy>
  <cp:revision>4</cp:revision>
  <dcterms:created xsi:type="dcterms:W3CDTF">2013-01-27T09:14:16Z</dcterms:created>
  <dcterms:modified xsi:type="dcterms:W3CDTF">2026-08-21T06:47:08Z</dcterms:modified>
  <cp:category/>
</cp:coreProperties>
</file>